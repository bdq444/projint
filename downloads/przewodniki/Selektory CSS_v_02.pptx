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0"/>
  </p:notesMasterIdLst>
  <p:sldIdLst>
    <p:sldId id="256" r:id="rId2"/>
    <p:sldId id="258" r:id="rId3"/>
    <p:sldId id="259" r:id="rId4"/>
    <p:sldId id="260" r:id="rId5"/>
    <p:sldId id="261" r:id="rId6"/>
    <p:sldId id="262" r:id="rId7"/>
    <p:sldId id="298" r:id="rId8"/>
    <p:sldId id="299" r:id="rId9"/>
    <p:sldId id="263" r:id="rId10"/>
    <p:sldId id="300" r:id="rId11"/>
    <p:sldId id="264" r:id="rId12"/>
    <p:sldId id="265" r:id="rId13"/>
    <p:sldId id="266" r:id="rId14"/>
    <p:sldId id="267" r:id="rId15"/>
    <p:sldId id="301" r:id="rId16"/>
    <p:sldId id="302" r:id="rId17"/>
    <p:sldId id="303" r:id="rId18"/>
    <p:sldId id="304" r:id="rId19"/>
    <p:sldId id="305" r:id="rId20"/>
    <p:sldId id="268" r:id="rId21"/>
    <p:sldId id="306" r:id="rId22"/>
    <p:sldId id="269" r:id="rId23"/>
    <p:sldId id="270" r:id="rId24"/>
    <p:sldId id="307" r:id="rId25"/>
    <p:sldId id="271" r:id="rId26"/>
    <p:sldId id="272" r:id="rId27"/>
    <p:sldId id="273" r:id="rId28"/>
    <p:sldId id="274" r:id="rId29"/>
    <p:sldId id="275" r:id="rId30"/>
    <p:sldId id="276" r:id="rId31"/>
    <p:sldId id="308" r:id="rId32"/>
    <p:sldId id="310" r:id="rId33"/>
    <p:sldId id="309" r:id="rId34"/>
    <p:sldId id="277" r:id="rId35"/>
    <p:sldId id="311" r:id="rId36"/>
    <p:sldId id="278" r:id="rId37"/>
    <p:sldId id="312" r:id="rId38"/>
    <p:sldId id="279" r:id="rId39"/>
    <p:sldId id="280" r:id="rId40"/>
    <p:sldId id="281" r:id="rId41"/>
    <p:sldId id="282" r:id="rId42"/>
    <p:sldId id="314" r:id="rId43"/>
    <p:sldId id="313" r:id="rId44"/>
    <p:sldId id="284" r:id="rId45"/>
    <p:sldId id="315" r:id="rId46"/>
    <p:sldId id="285" r:id="rId47"/>
    <p:sldId id="286" r:id="rId48"/>
    <p:sldId id="316" r:id="rId49"/>
    <p:sldId id="287" r:id="rId50"/>
    <p:sldId id="318" r:id="rId51"/>
    <p:sldId id="319" r:id="rId52"/>
    <p:sldId id="320" r:id="rId53"/>
    <p:sldId id="289" r:id="rId54"/>
    <p:sldId id="321" r:id="rId55"/>
    <p:sldId id="322" r:id="rId56"/>
    <p:sldId id="290" r:id="rId57"/>
    <p:sldId id="323" r:id="rId58"/>
    <p:sldId id="291" r:id="rId59"/>
    <p:sldId id="324" r:id="rId60"/>
    <p:sldId id="325" r:id="rId61"/>
    <p:sldId id="292" r:id="rId62"/>
    <p:sldId id="326" r:id="rId63"/>
    <p:sldId id="327" r:id="rId64"/>
    <p:sldId id="328" r:id="rId65"/>
    <p:sldId id="293" r:id="rId66"/>
    <p:sldId id="329" r:id="rId67"/>
    <p:sldId id="294" r:id="rId68"/>
    <p:sldId id="330" r:id="rId69"/>
    <p:sldId id="331" r:id="rId70"/>
    <p:sldId id="295" r:id="rId71"/>
    <p:sldId id="332" r:id="rId72"/>
    <p:sldId id="333" r:id="rId73"/>
    <p:sldId id="296" r:id="rId74"/>
    <p:sldId id="335" r:id="rId75"/>
    <p:sldId id="336" r:id="rId76"/>
    <p:sldId id="337" r:id="rId77"/>
    <p:sldId id="340" r:id="rId78"/>
    <p:sldId id="341" r:id="rId7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364" autoAdjust="0"/>
  </p:normalViewPr>
  <p:slideViewPr>
    <p:cSldViewPr snapToGrid="0">
      <p:cViewPr varScale="1">
        <p:scale>
          <a:sx n="73" d="100"/>
          <a:sy n="73" d="100"/>
        </p:scale>
        <p:origin x="96" y="254"/>
      </p:cViewPr>
      <p:guideLst/>
    </p:cSldViewPr>
  </p:slideViewPr>
  <p:outlineViewPr>
    <p:cViewPr>
      <p:scale>
        <a:sx n="33" d="100"/>
        <a:sy n="33" d="100"/>
      </p:scale>
      <p:origin x="0" y="-3664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  <p:sld r:id="rId69" collapse="1"/>
      <p:sld r:id="rId70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5.xml"/><Relationship Id="rId18" Type="http://schemas.openxmlformats.org/officeDocument/2006/relationships/slide" Target="slides/slide20.xml"/><Relationship Id="rId26" Type="http://schemas.openxmlformats.org/officeDocument/2006/relationships/slide" Target="slides/slide28.xml"/><Relationship Id="rId39" Type="http://schemas.openxmlformats.org/officeDocument/2006/relationships/slide" Target="slides/slide41.xml"/><Relationship Id="rId21" Type="http://schemas.openxmlformats.org/officeDocument/2006/relationships/slide" Target="slides/slide23.xml"/><Relationship Id="rId34" Type="http://schemas.openxmlformats.org/officeDocument/2006/relationships/slide" Target="slides/slide36.xml"/><Relationship Id="rId42" Type="http://schemas.openxmlformats.org/officeDocument/2006/relationships/slide" Target="slides/slide44.xml"/><Relationship Id="rId47" Type="http://schemas.openxmlformats.org/officeDocument/2006/relationships/slide" Target="slides/slide49.xml"/><Relationship Id="rId50" Type="http://schemas.openxmlformats.org/officeDocument/2006/relationships/slide" Target="slides/slide52.xml"/><Relationship Id="rId55" Type="http://schemas.openxmlformats.org/officeDocument/2006/relationships/slide" Target="slides/slide57.xml"/><Relationship Id="rId63" Type="http://schemas.openxmlformats.org/officeDocument/2006/relationships/slide" Target="slides/slide66.xml"/><Relationship Id="rId68" Type="http://schemas.openxmlformats.org/officeDocument/2006/relationships/slide" Target="slides/slide71.xml"/><Relationship Id="rId7" Type="http://schemas.openxmlformats.org/officeDocument/2006/relationships/slide" Target="slides/slide7.xml"/><Relationship Id="rId2" Type="http://schemas.openxmlformats.org/officeDocument/2006/relationships/slide" Target="slides/slide2.xml"/><Relationship Id="rId16" Type="http://schemas.openxmlformats.org/officeDocument/2006/relationships/slide" Target="slides/slide18.xml"/><Relationship Id="rId29" Type="http://schemas.openxmlformats.org/officeDocument/2006/relationships/slide" Target="slides/slide31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3.xml"/><Relationship Id="rId24" Type="http://schemas.openxmlformats.org/officeDocument/2006/relationships/slide" Target="slides/slide26.xml"/><Relationship Id="rId32" Type="http://schemas.openxmlformats.org/officeDocument/2006/relationships/slide" Target="slides/slide34.xml"/><Relationship Id="rId37" Type="http://schemas.openxmlformats.org/officeDocument/2006/relationships/slide" Target="slides/slide39.xml"/><Relationship Id="rId40" Type="http://schemas.openxmlformats.org/officeDocument/2006/relationships/slide" Target="slides/slide42.xml"/><Relationship Id="rId45" Type="http://schemas.openxmlformats.org/officeDocument/2006/relationships/slide" Target="slides/slide47.xml"/><Relationship Id="rId53" Type="http://schemas.openxmlformats.org/officeDocument/2006/relationships/slide" Target="slides/slide55.xml"/><Relationship Id="rId58" Type="http://schemas.openxmlformats.org/officeDocument/2006/relationships/slide" Target="slides/slide60.xml"/><Relationship Id="rId66" Type="http://schemas.openxmlformats.org/officeDocument/2006/relationships/slide" Target="slides/slide69.xml"/><Relationship Id="rId5" Type="http://schemas.openxmlformats.org/officeDocument/2006/relationships/slide" Target="slides/slide5.xml"/><Relationship Id="rId15" Type="http://schemas.openxmlformats.org/officeDocument/2006/relationships/slide" Target="slides/slide17.xml"/><Relationship Id="rId23" Type="http://schemas.openxmlformats.org/officeDocument/2006/relationships/slide" Target="slides/slide25.xml"/><Relationship Id="rId28" Type="http://schemas.openxmlformats.org/officeDocument/2006/relationships/slide" Target="slides/slide30.xml"/><Relationship Id="rId36" Type="http://schemas.openxmlformats.org/officeDocument/2006/relationships/slide" Target="slides/slide38.xml"/><Relationship Id="rId49" Type="http://schemas.openxmlformats.org/officeDocument/2006/relationships/slide" Target="slides/slide51.xml"/><Relationship Id="rId57" Type="http://schemas.openxmlformats.org/officeDocument/2006/relationships/slide" Target="slides/slide59.xml"/><Relationship Id="rId61" Type="http://schemas.openxmlformats.org/officeDocument/2006/relationships/slide" Target="slides/slide64.xml"/><Relationship Id="rId10" Type="http://schemas.openxmlformats.org/officeDocument/2006/relationships/slide" Target="slides/slide12.xml"/><Relationship Id="rId19" Type="http://schemas.openxmlformats.org/officeDocument/2006/relationships/slide" Target="slides/slide21.xml"/><Relationship Id="rId31" Type="http://schemas.openxmlformats.org/officeDocument/2006/relationships/slide" Target="slides/slide33.xml"/><Relationship Id="rId44" Type="http://schemas.openxmlformats.org/officeDocument/2006/relationships/slide" Target="slides/slide46.xml"/><Relationship Id="rId52" Type="http://schemas.openxmlformats.org/officeDocument/2006/relationships/slide" Target="slides/slide54.xml"/><Relationship Id="rId60" Type="http://schemas.openxmlformats.org/officeDocument/2006/relationships/slide" Target="slides/slide63.xml"/><Relationship Id="rId65" Type="http://schemas.openxmlformats.org/officeDocument/2006/relationships/slide" Target="slides/slide68.xml"/><Relationship Id="rId4" Type="http://schemas.openxmlformats.org/officeDocument/2006/relationships/slide" Target="slides/slide4.xml"/><Relationship Id="rId9" Type="http://schemas.openxmlformats.org/officeDocument/2006/relationships/slide" Target="slides/slide11.xml"/><Relationship Id="rId14" Type="http://schemas.openxmlformats.org/officeDocument/2006/relationships/slide" Target="slides/slide16.xml"/><Relationship Id="rId22" Type="http://schemas.openxmlformats.org/officeDocument/2006/relationships/slide" Target="slides/slide24.xml"/><Relationship Id="rId27" Type="http://schemas.openxmlformats.org/officeDocument/2006/relationships/slide" Target="slides/slide29.xml"/><Relationship Id="rId30" Type="http://schemas.openxmlformats.org/officeDocument/2006/relationships/slide" Target="slides/slide32.xml"/><Relationship Id="rId35" Type="http://schemas.openxmlformats.org/officeDocument/2006/relationships/slide" Target="slides/slide37.xml"/><Relationship Id="rId43" Type="http://schemas.openxmlformats.org/officeDocument/2006/relationships/slide" Target="slides/slide45.xml"/><Relationship Id="rId48" Type="http://schemas.openxmlformats.org/officeDocument/2006/relationships/slide" Target="slides/slide50.xml"/><Relationship Id="rId56" Type="http://schemas.openxmlformats.org/officeDocument/2006/relationships/slide" Target="slides/slide58.xml"/><Relationship Id="rId64" Type="http://schemas.openxmlformats.org/officeDocument/2006/relationships/slide" Target="slides/slide67.xml"/><Relationship Id="rId69" Type="http://schemas.openxmlformats.org/officeDocument/2006/relationships/slide" Target="slides/slide72.xml"/><Relationship Id="rId8" Type="http://schemas.openxmlformats.org/officeDocument/2006/relationships/slide" Target="slides/slide9.xml"/><Relationship Id="rId51" Type="http://schemas.openxmlformats.org/officeDocument/2006/relationships/slide" Target="slides/slide53.xml"/><Relationship Id="rId3" Type="http://schemas.openxmlformats.org/officeDocument/2006/relationships/slide" Target="slides/slide3.xml"/><Relationship Id="rId12" Type="http://schemas.openxmlformats.org/officeDocument/2006/relationships/slide" Target="slides/slide14.xml"/><Relationship Id="rId17" Type="http://schemas.openxmlformats.org/officeDocument/2006/relationships/slide" Target="slides/slide19.xml"/><Relationship Id="rId25" Type="http://schemas.openxmlformats.org/officeDocument/2006/relationships/slide" Target="slides/slide27.xml"/><Relationship Id="rId33" Type="http://schemas.openxmlformats.org/officeDocument/2006/relationships/slide" Target="slides/slide35.xml"/><Relationship Id="rId38" Type="http://schemas.openxmlformats.org/officeDocument/2006/relationships/slide" Target="slides/slide40.xml"/><Relationship Id="rId46" Type="http://schemas.openxmlformats.org/officeDocument/2006/relationships/slide" Target="slides/slide48.xml"/><Relationship Id="rId59" Type="http://schemas.openxmlformats.org/officeDocument/2006/relationships/slide" Target="slides/slide61.xml"/><Relationship Id="rId67" Type="http://schemas.openxmlformats.org/officeDocument/2006/relationships/slide" Target="slides/slide70.xml"/><Relationship Id="rId20" Type="http://schemas.openxmlformats.org/officeDocument/2006/relationships/slide" Target="slides/slide22.xml"/><Relationship Id="rId41" Type="http://schemas.openxmlformats.org/officeDocument/2006/relationships/slide" Target="slides/slide43.xml"/><Relationship Id="rId54" Type="http://schemas.openxmlformats.org/officeDocument/2006/relationships/slide" Target="slides/slide56.xml"/><Relationship Id="rId62" Type="http://schemas.openxmlformats.org/officeDocument/2006/relationships/slide" Target="slides/slide65.xml"/><Relationship Id="rId70" Type="http://schemas.openxmlformats.org/officeDocument/2006/relationships/slide" Target="slides/slide7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EA65B-6A92-41E3-9967-2E911FF4ACA8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5B62E-6BD9-424B-BCE1-5C516F80564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3831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5B62E-6BD9-424B-BCE1-5C516F80564C}" type="slidenum">
              <a:rPr lang="pl-PL" smtClean="0"/>
              <a:t>76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9859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5B62E-6BD9-424B-BCE1-5C516F80564C}" type="slidenum">
              <a:rPr lang="pl-PL" smtClean="0"/>
              <a:t>77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9673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5B62E-6BD9-424B-BCE1-5C516F80564C}" type="slidenum">
              <a:rPr lang="pl-PL" smtClean="0"/>
              <a:t>78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6922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ytuł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5210B7-BCE6-BEFF-83D6-C21D045F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69B8C50-0FBD-9855-D371-5E472F51E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146F1EA-525A-400D-CC33-F7502020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523-777E-4F88-BFA8-CCA55F243722}" type="datetimeFigureOut">
              <a:rPr lang="pl-PL" smtClean="0"/>
              <a:t>09.04.2026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C26077B-F456-5D72-460D-93854097E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8FAEE8F-9D5E-8C5A-1EA6-79472DE7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AFD5-B13E-4255-9067-04FC769672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8633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11069719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11069719" cy="3599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Courier New" panose="02070309020205020404" pitchFamily="49" charset="0"/>
          <a:ea typeface="+mn-ea"/>
          <a:cs typeface="Courier New" panose="02070309020205020404" pitchFamily="49" charset="0"/>
        </a:defRPr>
      </a:lvl2pPr>
      <a:lvl3pPr marL="12001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ourier New" panose="02070309020205020404" pitchFamily="49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://meyerweb.com/eric/tools/css/reset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D6FE20-C183-1FA9-C499-7E55169DD4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Selektory CSS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925E2F7-67D9-6173-2EE8-CF772ED99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Materiały pomocnicze</a:t>
            </a:r>
          </a:p>
        </p:txBody>
      </p:sp>
    </p:spTree>
    <p:extLst>
      <p:ext uri="{BB962C8B-B14F-4D97-AF65-F5344CB8AC3E}">
        <p14:creationId xmlns:p14="http://schemas.microsoft.com/office/powerpoint/2010/main" val="102187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78D9AA-282D-7406-BCB2-CCC9E2CBC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Selektory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4E403E5-72C5-1A1C-0E0E-2221112C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Każdy styl CSS składa się z reguł.</a:t>
            </a:r>
          </a:p>
          <a:p>
            <a:pPr lvl="0"/>
            <a:r>
              <a:rPr lang="pl-PL" dirty="0"/>
              <a:t>Każda reguła ma dwie części: selektor i bloku deklaracji.</a:t>
            </a:r>
          </a:p>
          <a:p>
            <a:pPr lvl="0"/>
            <a:r>
              <a:rPr lang="pl-PL" dirty="0"/>
              <a:t>Blok deklaracji zawiera pary: właściwość i wartość.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Selektory mówiąc arkuszom stylów, co mają sformatować, dają pełną kontrolę nad wyglądem strony.</a:t>
            </a:r>
          </a:p>
          <a:p>
            <a:pPr lvl="0"/>
            <a:r>
              <a:rPr lang="pl-PL" sz="1800" dirty="0"/>
              <a:t>Selektor może odnosić się do wielu elementów strony jednocześnie lub skupić się na szczegółach, do jednego określonego elementu albo grupy elementów.</a:t>
            </a:r>
          </a:p>
        </p:txBody>
      </p:sp>
    </p:spTree>
    <p:extLst>
      <p:ext uri="{BB962C8B-B14F-4D97-AF65-F5344CB8AC3E}">
        <p14:creationId xmlns:p14="http://schemas.microsoft.com/office/powerpoint/2010/main" val="126529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B6F0F8-84C8-85E5-3BCE-4506054B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Składnia reguły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9D9D283-CBFE-DF71-EB16-6329AB8F2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pl-PL" dirty="0"/>
              <a:t>selektor {</a:t>
            </a:r>
          </a:p>
          <a:p>
            <a:pPr marL="457200" lvl="1" indent="0">
              <a:buNone/>
            </a:pPr>
            <a:r>
              <a:rPr lang="pl-PL" dirty="0"/>
              <a:t>  właściwość1: wartość1;</a:t>
            </a:r>
          </a:p>
          <a:p>
            <a:pPr marL="457200" lvl="1" indent="0">
              <a:buNone/>
            </a:pPr>
            <a:r>
              <a:rPr lang="pl-PL" dirty="0"/>
              <a:t>  właściwość2: wartość2;</a:t>
            </a:r>
          </a:p>
          <a:p>
            <a:pPr marL="457200" lvl="1" indent="0">
              <a:buNone/>
            </a:pPr>
            <a:r>
              <a:rPr lang="pl-PL" dirty="0"/>
              <a:t>  …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właściwośćN</a:t>
            </a:r>
            <a:r>
              <a:rPr lang="pl-PL" dirty="0"/>
              <a:t>: </a:t>
            </a:r>
            <a:r>
              <a:rPr lang="pl-PL" dirty="0" err="1"/>
              <a:t>wartośćN</a:t>
            </a:r>
            <a:r>
              <a:rPr lang="pl-PL" dirty="0"/>
              <a:t>;</a:t>
            </a:r>
          </a:p>
          <a:p>
            <a:pPr marL="457200" lvl="1" indent="0">
              <a:buNone/>
            </a:pPr>
            <a:r>
              <a:rPr lang="pl-P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4388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EA58AA-30CD-6E2E-F0E7-1160CA721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Przykładowe reguły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56601D3-A8E2-8855-6625-66F7901CC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pl-PL" dirty="0" err="1"/>
              <a:t>html</a:t>
            </a:r>
            <a:r>
              <a:rPr lang="pl-PL" dirty="0"/>
              <a:t> { </a:t>
            </a:r>
            <a:r>
              <a:rPr lang="pl-PL" dirty="0" err="1"/>
              <a:t>margin-left</a:t>
            </a:r>
            <a:r>
              <a:rPr lang="pl-PL" dirty="0"/>
              <a:t>: 40px; </a:t>
            </a:r>
            <a:r>
              <a:rPr lang="pl-PL" dirty="0" err="1"/>
              <a:t>font</a:t>
            </a:r>
            <a:r>
              <a:rPr lang="pl-PL" dirty="0"/>
              <a:t>-family: Verdana; }</a:t>
            </a:r>
          </a:p>
          <a:p>
            <a:pPr marL="457200" lvl="1" indent="0">
              <a:buNone/>
            </a:pPr>
            <a:endParaRPr lang="pl-PL" dirty="0"/>
          </a:p>
          <a:p>
            <a:pPr marL="457200" lvl="1" indent="0">
              <a:buNone/>
            </a:pPr>
            <a:r>
              <a:rPr lang="pl-PL" dirty="0"/>
              <a:t>#nawig {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position</a:t>
            </a:r>
            <a:r>
              <a:rPr lang="pl-PL" dirty="0"/>
              <a:t>: </a:t>
            </a:r>
            <a:r>
              <a:rPr lang="pl-PL" dirty="0" err="1"/>
              <a:t>fixed</a:t>
            </a:r>
            <a:r>
              <a:rPr lang="pl-PL" dirty="0"/>
              <a:t>;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width</a:t>
            </a:r>
            <a:r>
              <a:rPr lang="pl-PL" dirty="0"/>
              <a:t>: 200px;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height</a:t>
            </a:r>
            <a:r>
              <a:rPr lang="pl-PL" dirty="0"/>
              <a:t>: 100px;</a:t>
            </a:r>
          </a:p>
          <a:p>
            <a:pPr marL="457200" lvl="1" indent="0">
              <a:buNone/>
            </a:pPr>
            <a:r>
              <a:rPr lang="pl-PL" dirty="0"/>
              <a:t>  top: 0px;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right</a:t>
            </a:r>
            <a:r>
              <a:rPr lang="pl-PL" dirty="0"/>
              <a:t>: 0px;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background-color</a:t>
            </a:r>
            <a:r>
              <a:rPr lang="pl-PL" dirty="0"/>
              <a:t>: </a:t>
            </a:r>
            <a:r>
              <a:rPr lang="pl-PL" dirty="0" err="1"/>
              <a:t>brown</a:t>
            </a:r>
            <a:r>
              <a:rPr lang="pl-PL" dirty="0"/>
              <a:t>;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opacity</a:t>
            </a:r>
            <a:r>
              <a:rPr lang="pl-PL" dirty="0"/>
              <a:t>: .5;</a:t>
            </a:r>
          </a:p>
          <a:p>
            <a:pPr marL="457200" lvl="1" indent="0">
              <a:buNone/>
            </a:pPr>
            <a:r>
              <a:rPr lang="pl-P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879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6BB3E-D473-C7C1-C12F-FFCAF891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Selektory znaczników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2083DDC-913F-DBD9-C0C9-CD003B73D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Selektory znacznika (selektory typu) są niezwykle wydajnymi narzędziami stylizującymi, ponieważ mają zastosowanie do każdego wystąpienia danego znacznika na stronie. </a:t>
            </a:r>
          </a:p>
          <a:p>
            <a:pPr marL="457200" lvl="1" indent="0">
              <a:buNone/>
            </a:pPr>
            <a:r>
              <a:rPr lang="pl-PL" dirty="0"/>
              <a:t>h2 {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font</a:t>
            </a:r>
            <a:r>
              <a:rPr lang="pl-PL" dirty="0"/>
              <a:t>-</a:t>
            </a:r>
            <a:r>
              <a:rPr lang="pl-PL" dirty="0" err="1"/>
              <a:t>family:"Century</a:t>
            </a:r>
            <a:r>
              <a:rPr lang="pl-PL" dirty="0"/>
              <a:t> </a:t>
            </a:r>
            <a:r>
              <a:rPr lang="pl-PL" dirty="0" err="1"/>
              <a:t>Gothic</a:t>
            </a:r>
            <a:r>
              <a:rPr lang="pl-PL" dirty="0"/>
              <a:t>", "</a:t>
            </a:r>
            <a:r>
              <a:rPr lang="pl-PL" dirty="0" err="1"/>
              <a:t>Gill</a:t>
            </a:r>
            <a:r>
              <a:rPr lang="pl-PL" dirty="0"/>
              <a:t> Sans", </a:t>
            </a:r>
            <a:r>
              <a:rPr lang="pl-PL" dirty="0" err="1"/>
              <a:t>sans-serif</a:t>
            </a:r>
            <a:r>
              <a:rPr lang="pl-PL" dirty="0"/>
              <a:t>;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color</a:t>
            </a:r>
            <a:r>
              <a:rPr lang="pl-PL" dirty="0"/>
              <a:t>:#000000;</a:t>
            </a:r>
          </a:p>
          <a:p>
            <a:pPr marL="457200" lvl="1" indent="0">
              <a:buNone/>
            </a:pPr>
            <a:r>
              <a:rPr lang="pl-PL" dirty="0"/>
              <a:t>  margin-bottom:0;</a:t>
            </a:r>
          </a:p>
          <a:p>
            <a:pPr marL="457200" lvl="1" indent="0">
              <a:buNone/>
            </a:pPr>
            <a:r>
              <a:rPr lang="pl-PL" dirty="0"/>
              <a:t>}</a:t>
            </a:r>
          </a:p>
          <a:p>
            <a:pPr lvl="0"/>
            <a:r>
              <a:rPr lang="pl-PL" b="1" dirty="0"/>
              <a:t>Wady</a:t>
            </a:r>
            <a:r>
              <a:rPr lang="pl-PL" dirty="0"/>
              <a:t>: zbyt szerokie pole rażenia.</a:t>
            </a:r>
          </a:p>
          <a:p>
            <a:pPr lvl="0"/>
            <a:r>
              <a:rPr lang="pl-PL" sz="1800" dirty="0"/>
              <a:t>Często spotkamy się z potrzebą zawężenia. Do tego służą selektory omówione dalej.</a:t>
            </a:r>
          </a:p>
        </p:txBody>
      </p:sp>
    </p:spTree>
    <p:extLst>
      <p:ext uri="{BB962C8B-B14F-4D97-AF65-F5344CB8AC3E}">
        <p14:creationId xmlns:p14="http://schemas.microsoft.com/office/powerpoint/2010/main" val="3851756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CFB3A6-7C1E-1DC7-38D0-61E2B5047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 klasy 1/3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9281460-D8B8-E95D-C0CE-15BEFD976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Gdy chcemy kilka wybranych elementów strony zdefiniować inaczej niż pozostałe elementy tego samego typu możemy użyć </a:t>
            </a:r>
            <a:r>
              <a:rPr lang="pl-PL" b="1" dirty="0">
                <a:solidFill>
                  <a:schemeClr val="bg1"/>
                </a:solidFill>
              </a:rPr>
              <a:t>selektora klasy</a:t>
            </a:r>
            <a:r>
              <a:rPr lang="pl-PL" dirty="0"/>
              <a:t>.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Selektory klas pozwalają na odniesienie się do konkretnego elementu na stronie, bez względu na jego znacznik.</a:t>
            </a:r>
          </a:p>
          <a:p>
            <a:pPr lvl="0"/>
            <a:endParaRPr lang="pl-PL" dirty="0"/>
          </a:p>
          <a:p>
            <a:pPr marL="457200" lvl="1" indent="0">
              <a:buNone/>
            </a:pPr>
            <a:r>
              <a:rPr lang="pl-PL" dirty="0"/>
              <a:t>.</a:t>
            </a:r>
            <a:r>
              <a:rPr lang="pl-PL" dirty="0" err="1"/>
              <a:t>special</a:t>
            </a:r>
            <a:r>
              <a:rPr lang="pl-PL" dirty="0"/>
              <a:t> {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color</a:t>
            </a:r>
            <a:r>
              <a:rPr lang="pl-PL" dirty="0"/>
              <a:t>: #FF0000;</a:t>
            </a:r>
          </a:p>
          <a:p>
            <a:pPr marL="457200" lvl="1" indent="0">
              <a:buNone/>
            </a:pPr>
            <a:r>
              <a:rPr lang="pl-PL" dirty="0"/>
              <a:t>  </a:t>
            </a:r>
            <a:r>
              <a:rPr lang="pl-PL" dirty="0" err="1"/>
              <a:t>font</a:t>
            </a:r>
            <a:r>
              <a:rPr lang="pl-PL" dirty="0"/>
              <a:t>-family: "</a:t>
            </a:r>
            <a:r>
              <a:rPr lang="pl-PL" dirty="0" err="1"/>
              <a:t>Monotype</a:t>
            </a:r>
            <a:r>
              <a:rPr lang="pl-PL" dirty="0"/>
              <a:t> </a:t>
            </a:r>
            <a:r>
              <a:rPr lang="pl-PL" dirty="0" err="1"/>
              <a:t>Corsiva</a:t>
            </a:r>
            <a:r>
              <a:rPr lang="pl-PL" dirty="0"/>
              <a:t>";</a:t>
            </a:r>
          </a:p>
          <a:p>
            <a:pPr marL="457200" lvl="1" indent="0">
              <a:buNone/>
            </a:pPr>
            <a:r>
              <a:rPr lang="pl-P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771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8E06-C836-DEE3-1349-708AC924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5F82CF-6823-4DC6-FAD5-B0B58332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 klasy 2/3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8D9BF0E-09C6-6597-404C-F6BAB4C3D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Reguły nadawania nazw klasom (w stylach CSS):</a:t>
            </a:r>
          </a:p>
          <a:p>
            <a:pPr lvl="0"/>
            <a:endParaRPr lang="pl-PL" dirty="0"/>
          </a:p>
          <a:p>
            <a:pPr lvl="2"/>
            <a:r>
              <a:rPr lang="pl-PL" dirty="0"/>
              <a:t>Nazwy wszystkich selektorów klas muszą zaczynać się od kropki.</a:t>
            </a:r>
          </a:p>
          <a:p>
            <a:pPr lvl="2"/>
            <a:r>
              <a:rPr lang="pl-PL" dirty="0"/>
              <a:t>W nazwach klas można używać tylko liter, cyfr, łączników i znaków podkreślenia.</a:t>
            </a:r>
          </a:p>
          <a:p>
            <a:pPr lvl="2"/>
            <a:r>
              <a:rPr lang="pl-PL" dirty="0"/>
              <a:t>Bezpośrednio po kropce zawsze musi znajdować się litera.</a:t>
            </a:r>
            <a:br>
              <a:rPr lang="pl-PL" dirty="0"/>
            </a:br>
            <a:r>
              <a:rPr lang="pl-PL" dirty="0">
                <a:latin typeface="Courier New" panose="02070309020205020404" pitchFamily="49" charset="0"/>
              </a:rPr>
              <a:t>.9lives</a:t>
            </a:r>
            <a:r>
              <a:rPr lang="pl-PL" dirty="0"/>
              <a:t> nie jest poprawną nazwą klasy, ale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</a:rPr>
              <a:t>.crazy8</a:t>
            </a:r>
            <a:r>
              <a:rPr lang="pl-PL" dirty="0"/>
              <a:t> tak.</a:t>
            </a:r>
          </a:p>
          <a:p>
            <a:pPr lvl="2"/>
            <a:r>
              <a:rPr lang="pl-PL" dirty="0"/>
              <a:t>W nazwach klas rozróżniane są małe i wielkie litery.</a:t>
            </a:r>
            <a:br>
              <a:rPr lang="pl-PL" dirty="0"/>
            </a:b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</a:rPr>
              <a:t>.SIDEBAR</a:t>
            </a:r>
            <a:r>
              <a:rPr lang="pl-PL" dirty="0"/>
              <a:t> i </a:t>
            </a:r>
            <a:r>
              <a:rPr lang="pl-PL" dirty="0">
                <a:solidFill>
                  <a:schemeClr val="bg1"/>
                </a:solidFill>
              </a:rPr>
              <a:t>.</a:t>
            </a:r>
            <a:r>
              <a:rPr lang="pl-PL" dirty="0" err="1">
                <a:solidFill>
                  <a:schemeClr val="bg1"/>
                </a:solidFill>
              </a:rPr>
              <a:t>sidebar</a:t>
            </a:r>
            <a:r>
              <a:rPr lang="pl-PL" dirty="0"/>
              <a:t> to dwie różne klasy w CSS.</a:t>
            </a:r>
          </a:p>
        </p:txBody>
      </p:sp>
    </p:spTree>
    <p:extLst>
      <p:ext uri="{BB962C8B-B14F-4D97-AF65-F5344CB8AC3E}">
        <p14:creationId xmlns:p14="http://schemas.microsoft.com/office/powerpoint/2010/main" val="3828098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10877-5BDF-9960-2AF4-16777842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40F814-CCFB-0CFF-6CA5-B8B7129E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 klasy 3/3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680E77E-4F6B-AEB6-CD48-FCC18E77B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Używanie selektorów klas jest procesem dwufazowym. Po utworzeniu reguły klasy trzeba jeszcze wskazać, do czego ma być ona stosowana. W tym celu do znacznika HTML, któremu ma być nadany styl, dodaje się atrybut 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l-PL" dirty="0"/>
              <a:t>.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&lt;p </a:t>
            </a:r>
            <a:r>
              <a:rPr lang="pl-PL" dirty="0" err="1"/>
              <a:t>class</a:t>
            </a:r>
            <a:r>
              <a:rPr lang="pl-PL" dirty="0"/>
              <a:t>="</a:t>
            </a:r>
            <a:r>
              <a:rPr lang="pl-PL" dirty="0" err="1"/>
              <a:t>special</a:t>
            </a:r>
            <a:r>
              <a:rPr lang="pl-PL" dirty="0"/>
              <a:t>"&gt;</a:t>
            </a:r>
          </a:p>
          <a:p>
            <a:pPr lvl="0"/>
            <a:r>
              <a:rPr lang="pl-PL" dirty="0"/>
              <a:t>W HTML-u przed nazwą klasy będącą wartością atrybutu 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l-PL" dirty="0"/>
              <a:t> nie stawia się kropki. Jest ona wymagana tylko przed nazwą selektora w arkuszu stylów.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Jedną klasę można zastosować do dowolnej liczby znaczników.</a:t>
            </a:r>
          </a:p>
        </p:txBody>
      </p:sp>
    </p:spTree>
    <p:extLst>
      <p:ext uri="{BB962C8B-B14F-4D97-AF65-F5344CB8AC3E}">
        <p14:creationId xmlns:p14="http://schemas.microsoft.com/office/powerpoint/2010/main" val="3782377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8C0E85-692B-F4F2-1B5E-0587E1FF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 identyfikatora 1/2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8C6709C-FDC4-8D80-47BC-CCB3BE58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Selektor identyfikatora w CSS służy do identyfikacji niepowtarzalnych części strony, takich jak banery, paski nawigacyjne czy główny obszar z treścią.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W identyfikatorach nazwa rozpoczyna się od krzyżyka (#).</a:t>
            </a:r>
          </a:p>
          <a:p>
            <a:pPr lvl="1"/>
            <a:r>
              <a:rPr lang="pl-PL" dirty="0"/>
              <a:t>#banner {</a:t>
            </a:r>
          </a:p>
          <a:p>
            <a:pPr lvl="1"/>
            <a:r>
              <a:rPr lang="pl-PL" dirty="0"/>
              <a:t>  </a:t>
            </a:r>
            <a:r>
              <a:rPr lang="pl-PL" dirty="0" err="1"/>
              <a:t>background</a:t>
            </a:r>
            <a:r>
              <a:rPr lang="pl-PL" dirty="0"/>
              <a:t>: #CC0000;</a:t>
            </a:r>
          </a:p>
          <a:p>
            <a:pPr lvl="1"/>
            <a:r>
              <a:rPr lang="pl-PL" dirty="0"/>
              <a:t>  </a:t>
            </a:r>
            <a:r>
              <a:rPr lang="pl-PL" dirty="0" err="1"/>
              <a:t>height</a:t>
            </a:r>
            <a:r>
              <a:rPr lang="pl-PL" dirty="0"/>
              <a:t>: 300px;</a:t>
            </a:r>
          </a:p>
          <a:p>
            <a:pPr lvl="1"/>
            <a:r>
              <a:rPr lang="pl-PL" dirty="0"/>
              <a:t>  </a:t>
            </a:r>
            <a:r>
              <a:rPr lang="pl-PL" dirty="0" err="1"/>
              <a:t>width</a:t>
            </a:r>
            <a:r>
              <a:rPr lang="pl-PL" dirty="0"/>
              <a:t>: 720px;</a:t>
            </a:r>
          </a:p>
          <a:p>
            <a:pPr lvl="1"/>
            <a:r>
              <a:rPr lang="pl-P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1753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218C-FBE3-9CDB-F491-F872889C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2171D5-2F87-85CD-70F0-3A11BF93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 identyfikatora 2/2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91DC2D1-1FB6-65BB-37B4-F799DC3AC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Identyfikatory w HTML wprowadzamy za pomocą atrybutu —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pl-PL" dirty="0"/>
              <a:t>. Aby zastosować powyższy styl do elementu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  <a:r>
              <a:rPr lang="pl-PL" dirty="0"/>
              <a:t>, należałoby napisać taki kod HTML: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&lt;div id="banner"&gt;</a:t>
            </a:r>
          </a:p>
          <a:p>
            <a:pPr lvl="0"/>
            <a:r>
              <a:rPr lang="pl-PL" dirty="0"/>
              <a:t>W kodzie HTML poszczególne identyfikatory mogą pojawić się </a:t>
            </a:r>
            <a:r>
              <a:rPr lang="pl-PL" b="1" dirty="0">
                <a:solidFill>
                  <a:schemeClr val="bg1"/>
                </a:solidFill>
              </a:rPr>
              <a:t>wyłącznie raz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1124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A2B967-F0D8-503C-66C4-162CFCCF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 grupowy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817868F-E34D-063B-249A-E3E2EEBE8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Selektor grupowy pozwala na stosowanie stylów do wielu selektorów jednocześnie.</a:t>
            </a:r>
          </a:p>
          <a:p>
            <a:pPr lvl="0"/>
            <a:r>
              <a:rPr lang="pl-PL" dirty="0"/>
              <a:t>Aby zgrupować selektory, wystarczy napisać ich listę rozdzieloną przecinkami.</a:t>
            </a:r>
          </a:p>
          <a:p>
            <a:pPr lvl="0"/>
            <a:endParaRPr lang="pl-PL" dirty="0"/>
          </a:p>
          <a:p>
            <a:pPr lvl="1"/>
            <a:r>
              <a:rPr lang="en-US" dirty="0"/>
              <a:t>h1, p, .copyright, #banner {color: #F1CD33;}</a:t>
            </a:r>
          </a:p>
          <a:p>
            <a:pPr lvl="0"/>
            <a:endParaRPr lang="pl-PL" sz="1800" dirty="0"/>
          </a:p>
          <a:p>
            <a:pPr lvl="0"/>
            <a:r>
              <a:rPr lang="pl-PL" sz="1800" dirty="0"/>
              <a:t>Aby kilka znaczników miało takie same niektóre style (ale nie wszystkie), można utworzyć selektor grupowy ze wspólnymi właściwościami oraz indywidualne reguły z indywidualnymi właściwościami dla każdego znacznika osobno.</a:t>
            </a:r>
          </a:p>
          <a:p>
            <a:pPr lvl="0"/>
            <a:r>
              <a:rPr lang="pl-PL" sz="1800" dirty="0"/>
              <a:t>Zatem, do jednego znacznika może odnosić się </a:t>
            </a:r>
            <a:r>
              <a:rPr lang="pl-PL" sz="1800" b="1" dirty="0">
                <a:solidFill>
                  <a:schemeClr val="bg1"/>
                </a:solidFill>
              </a:rPr>
              <a:t>kilka stylów</a:t>
            </a:r>
            <a:r>
              <a:rPr lang="pl-PL" sz="1800" dirty="0"/>
              <a:t>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69341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C0C6BC-94C4-4359-9BE6-4D558D593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 uniwersalny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B4939F2-92AF-785E-DF85-5C900264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Symbol gwiazdki (*) jest uniwersalnym selektorem pasującym do wszystkich znaczników.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* {</a:t>
            </a:r>
            <a:r>
              <a:rPr lang="pl-PL" dirty="0" err="1"/>
              <a:t>font-weight</a:t>
            </a:r>
            <a:r>
              <a:rPr lang="pl-PL" dirty="0"/>
              <a:t>: </a:t>
            </a:r>
            <a:r>
              <a:rPr lang="pl-PL" dirty="0" err="1"/>
              <a:t>bold</a:t>
            </a:r>
            <a:r>
              <a:rPr lang="pl-PL" dirty="0"/>
              <a:t>;}</a:t>
            </a:r>
          </a:p>
          <a:p>
            <a:pPr lvl="0"/>
            <a:r>
              <a:rPr lang="pl-PL" dirty="0"/>
              <a:t>Zasadniczo nie jest to selektor zalecany, lepiej korzystać z selektora znacznika body albo </a:t>
            </a:r>
            <a:r>
              <a:rPr lang="pl-PL" dirty="0" err="1"/>
              <a:t>html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726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344286-E332-78BE-C943-54A94405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Stylizowanie znaczników zagnieżdżonych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4932777-1CE7-3973-E720-4381ABA2C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Można to przeprowadzić za pomocą selektorów potomków.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Selektor potomka pozwala formatować znaczniki w oparciu o ich powiązania z innymi znacznikami. Aby zrozumieć jego działanie, trzeba zagłębić się w HTML.</a:t>
            </a:r>
          </a:p>
        </p:txBody>
      </p:sp>
    </p:spTree>
    <p:extLst>
      <p:ext uri="{BB962C8B-B14F-4D97-AF65-F5344CB8AC3E}">
        <p14:creationId xmlns:p14="http://schemas.microsoft.com/office/powerpoint/2010/main" val="334250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3864DB-2741-2227-E852-828A2047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Drzewo HTML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4B53B92-E84B-127E-88C1-DCA9E5940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6563758" cy="3599317"/>
          </a:xfrm>
        </p:spPr>
        <p:txBody>
          <a:bodyPr anchor="t"/>
          <a:lstStyle/>
          <a:p>
            <a:pPr lvl="0"/>
            <a:r>
              <a:rPr lang="pl-PL" sz="2400" dirty="0"/>
              <a:t>Kod HTML tworzący każdą stronę internetową można porównać do drzewa, na którym różne znaczniki HTML reprezentują różnych członków rodziny.</a:t>
            </a:r>
          </a:p>
          <a:p>
            <a:pPr lvl="0"/>
            <a:endParaRPr lang="pl-PL" sz="2400" dirty="0"/>
          </a:p>
          <a:p>
            <a:pPr lvl="0"/>
            <a:r>
              <a:rPr lang="pl-PL" sz="1800" dirty="0"/>
              <a:t>Pierwszy znacznik —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 — jest dziadkiem wszystkich pozostałych znaczników.</a:t>
            </a:r>
          </a:p>
          <a:p>
            <a:pPr lvl="0"/>
            <a:endParaRPr lang="pl-PL" sz="1800" dirty="0"/>
          </a:p>
          <a:p>
            <a:pPr lvl="0"/>
            <a:r>
              <a:rPr lang="pl-PL" sz="1800" dirty="0"/>
              <a:t>Zawiera on zarówno znacznik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, jak i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sz="1800" dirty="0"/>
              <a:t>, dzięki czemu jest ich przodkiem. Również znacznik znajdujący się </a:t>
            </a:r>
            <a:br>
              <a:rPr lang="pl-PL" sz="1800" dirty="0"/>
            </a:br>
            <a:r>
              <a:rPr lang="pl-PL" sz="1800" dirty="0"/>
              <a:t>w innym znaczniku jest jego potomkiem.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5549302-E223-4FBC-21E7-FA7DB350F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516" y="2776586"/>
            <a:ext cx="2815915" cy="2719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7504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2ADC-C80F-7395-F86D-6F4B773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FBF791-2EBA-EA16-94B7-B6971CA1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Drzewo HTML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CA08BFE-85C8-5F82-4383-26C5B1C05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6563758" cy="3599317"/>
          </a:xfrm>
        </p:spPr>
        <p:txBody>
          <a:bodyPr anchor="t"/>
          <a:lstStyle/>
          <a:p>
            <a:pPr lvl="0"/>
            <a:r>
              <a:rPr lang="pl-PL" sz="2400" dirty="0"/>
              <a:t>W poniższym przykładzie znacznik </a:t>
            </a:r>
            <a:r>
              <a:rPr lang="pl-P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pl-P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2400" dirty="0"/>
              <a:t> jest potomkiem znacznika </a:t>
            </a:r>
            <a:r>
              <a:rPr lang="pl-P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pl-P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2400" dirty="0"/>
              <a:t>:</a:t>
            </a:r>
          </a:p>
          <a:p>
            <a:pPr lvl="0"/>
            <a:endParaRPr lang="pl-PL" dirty="0"/>
          </a:p>
          <a:p>
            <a:pPr lvl="1"/>
            <a:r>
              <a:rPr lang="pl-PL" sz="2000" dirty="0"/>
              <a:t>&lt;</a:t>
            </a:r>
            <a:r>
              <a:rPr lang="pl-PL" sz="2000" dirty="0" err="1"/>
              <a:t>html</a:t>
            </a:r>
            <a:r>
              <a:rPr lang="pl-PL" sz="2000" dirty="0"/>
              <a:t>&gt;</a:t>
            </a:r>
          </a:p>
          <a:p>
            <a:pPr lvl="1"/>
            <a:r>
              <a:rPr lang="pl-PL" sz="2000" dirty="0"/>
              <a:t>  &lt;</a:t>
            </a:r>
            <a:r>
              <a:rPr lang="pl-PL" sz="2000" dirty="0" err="1"/>
              <a:t>head</a:t>
            </a:r>
            <a:r>
              <a:rPr lang="pl-PL" sz="2000" dirty="0"/>
              <a:t>&gt;</a:t>
            </a:r>
          </a:p>
          <a:p>
            <a:pPr lvl="1"/>
            <a:r>
              <a:rPr lang="pl-PL" sz="2000" dirty="0"/>
              <a:t>    &lt;</a:t>
            </a:r>
            <a:r>
              <a:rPr lang="pl-PL" sz="2000" dirty="0" err="1"/>
              <a:t>title</a:t>
            </a:r>
            <a:r>
              <a:rPr lang="pl-PL" sz="2000" dirty="0"/>
              <a:t>&gt;Prosty dokument&lt;/</a:t>
            </a:r>
            <a:r>
              <a:rPr lang="pl-PL" sz="2000" dirty="0" err="1"/>
              <a:t>title</a:t>
            </a:r>
            <a:r>
              <a:rPr lang="pl-PL" sz="2000" dirty="0"/>
              <a:t>&gt;</a:t>
            </a:r>
          </a:p>
          <a:p>
            <a:pPr lvl="1"/>
            <a:r>
              <a:rPr lang="pl-PL" sz="2000" dirty="0"/>
              <a:t>  &lt;/</a:t>
            </a:r>
            <a:r>
              <a:rPr lang="pl-PL" sz="2000" dirty="0" err="1"/>
              <a:t>head</a:t>
            </a:r>
            <a:r>
              <a:rPr lang="pl-PL" sz="2000" dirty="0"/>
              <a:t>&gt;</a:t>
            </a:r>
          </a:p>
          <a:p>
            <a:pPr lvl="1"/>
            <a:r>
              <a:rPr lang="pl-PL" sz="2000" dirty="0"/>
              <a:t>  &lt;body&gt;</a:t>
            </a:r>
          </a:p>
          <a:p>
            <a:pPr lvl="1"/>
            <a:r>
              <a:rPr lang="pl-PL" sz="2000" dirty="0"/>
              <a:t>    &lt;h1&gt;Nagłówek&lt;/h1&gt;</a:t>
            </a:r>
          </a:p>
          <a:p>
            <a:pPr lvl="1"/>
            <a:r>
              <a:rPr lang="pl-PL" sz="2000" dirty="0"/>
              <a:t>    &lt;p&gt;Akapit &lt;</a:t>
            </a:r>
            <a:r>
              <a:rPr lang="pl-PL" sz="2000" dirty="0" err="1"/>
              <a:t>strong</a:t>
            </a:r>
            <a:r>
              <a:rPr lang="pl-PL" sz="2000" dirty="0"/>
              <a:t>&gt;ważnego&lt;/</a:t>
            </a:r>
            <a:r>
              <a:rPr lang="pl-PL" sz="2000" dirty="0" err="1"/>
              <a:t>strong</a:t>
            </a:r>
            <a:r>
              <a:rPr lang="pl-PL" sz="2000" dirty="0"/>
              <a:t>&gt; tekstu.&lt;/p&gt;</a:t>
            </a:r>
          </a:p>
          <a:p>
            <a:pPr lvl="1"/>
            <a:r>
              <a:rPr lang="pl-PL" sz="2000" dirty="0"/>
              <a:t>  &lt;/body&gt;</a:t>
            </a:r>
          </a:p>
          <a:p>
            <a:pPr lvl="1"/>
            <a:r>
              <a:rPr lang="pl-PL" sz="2000" dirty="0"/>
              <a:t>&lt;/</a:t>
            </a:r>
            <a:r>
              <a:rPr lang="pl-PL" sz="2000" dirty="0" err="1"/>
              <a:t>html</a:t>
            </a:r>
            <a:r>
              <a:rPr lang="pl-PL" sz="2000" dirty="0"/>
              <a:t>&gt;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6691645B-8A15-9D2B-2B79-E1AF89EAD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516" y="2776586"/>
            <a:ext cx="2815915" cy="2719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9022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159B2-16D1-3B3E-3EB1-CB8D2DA4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C7A227-0DDD-C1D4-3345-1F84890E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Drzewo HTML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2F27D22-DE28-9F49-681F-A8ED2E3F4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6563758" cy="3599317"/>
          </a:xfrm>
        </p:spPr>
        <p:txBody>
          <a:bodyPr anchor="t"/>
          <a:lstStyle/>
          <a:p>
            <a:pPr lvl="0"/>
            <a:r>
              <a:rPr lang="pl-PL" sz="2400" dirty="0"/>
              <a:t>Kod można przedstawić w postaci diagramu, uwidaczniając powiązania pomiędzy znacznikami na stronie.</a:t>
            </a:r>
          </a:p>
          <a:p>
            <a:pPr lvl="0"/>
            <a:endParaRPr lang="pl-PL" sz="2400" dirty="0"/>
          </a:p>
          <a:p>
            <a:pPr lvl="0"/>
            <a:r>
              <a:rPr lang="pl-PL" sz="1800" dirty="0"/>
              <a:t>Drzewa pomagają zaobserwować, </a:t>
            </a:r>
            <a:br>
              <a:rPr lang="pl-PL" sz="1800" dirty="0"/>
            </a:br>
            <a:r>
              <a:rPr lang="pl-PL" sz="1800" dirty="0"/>
              <a:t>w jaki sposób CSS postrzega powiązania </a:t>
            </a:r>
            <a:br>
              <a:rPr lang="pl-PL" sz="1800" dirty="0"/>
            </a:br>
            <a:r>
              <a:rPr lang="pl-PL" sz="1800" dirty="0"/>
              <a:t>jednych elementów na stronie z innymi. 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C303483-DAEB-09FF-2EEB-8427E4CF6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516" y="2776586"/>
            <a:ext cx="2815915" cy="2719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9223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F7DF6-4AB5-693C-5870-3818023D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63C3F3-2731-D580-4328-DF0B147C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Drzewo HTML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CE809F8-CB27-CC10-37F4-E18F8E7FB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6563758" cy="3599317"/>
          </a:xfrm>
        </p:spPr>
        <p:txBody>
          <a:bodyPr anchor="t"/>
          <a:lstStyle/>
          <a:p>
            <a:pPr lvl="0"/>
            <a:r>
              <a:rPr lang="pl-PL" sz="2400" dirty="0"/>
              <a:t>Najważniejsze związki to:</a:t>
            </a:r>
          </a:p>
          <a:p>
            <a:pPr lvl="0"/>
            <a:endParaRPr lang="pl-PL" sz="2400" dirty="0"/>
          </a:p>
          <a:p>
            <a:pPr lvl="2"/>
            <a:r>
              <a:rPr lang="pl-PL" sz="1800" b="1" dirty="0">
                <a:solidFill>
                  <a:schemeClr val="bg1"/>
                </a:solidFill>
              </a:rPr>
              <a:t>Przodek</a:t>
            </a:r>
            <a:r>
              <a:rPr lang="pl-PL" sz="1800" dirty="0">
                <a:solidFill>
                  <a:schemeClr val="bg1"/>
                </a:solidFill>
              </a:rPr>
              <a:t> </a:t>
            </a:r>
            <a:r>
              <a:rPr lang="pl-PL" sz="1800" dirty="0"/>
              <a:t>— znacznik HTML zawierający inny znacznik jest jego przodkiem. Na rysunku znacznik </a:t>
            </a:r>
            <a:r>
              <a:rPr lang="pl-PL" sz="1800" dirty="0">
                <a:latin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</a:rPr>
              <a:t>html</a:t>
            </a:r>
            <a:r>
              <a:rPr lang="pl-PL" sz="1800" dirty="0">
                <a:latin typeface="Courier New" panose="02070309020205020404" pitchFamily="49" charset="0"/>
              </a:rPr>
              <a:t>&gt;</a:t>
            </a:r>
            <a:r>
              <a:rPr lang="pl-PL" sz="1800" dirty="0"/>
              <a:t> jest przodkiem wszystkich pozostałych znaczników, natomiast znacznik </a:t>
            </a:r>
            <a:r>
              <a:rPr lang="pl-PL" sz="1800" dirty="0">
                <a:latin typeface="Courier New" panose="02070309020205020404" pitchFamily="49" charset="0"/>
              </a:rPr>
              <a:t>&lt;body&gt;</a:t>
            </a:r>
            <a:r>
              <a:rPr lang="pl-PL" sz="1800" dirty="0"/>
              <a:t> jest przodkiem wszystkich znaczników znajdujących się w nim — </a:t>
            </a:r>
            <a:r>
              <a:rPr lang="pl-PL" sz="1800" dirty="0">
                <a:latin typeface="Courier New" panose="02070309020205020404" pitchFamily="49" charset="0"/>
              </a:rPr>
              <a:t>&lt;h1&gt;</a:t>
            </a:r>
            <a:r>
              <a:rPr lang="pl-PL" sz="1800" dirty="0"/>
              <a:t>, </a:t>
            </a:r>
            <a:r>
              <a:rPr lang="pl-PL" sz="1800" dirty="0">
                <a:latin typeface="Courier New" panose="02070309020205020404" pitchFamily="49" charset="0"/>
              </a:rPr>
              <a:t>&lt;p&gt;</a:t>
            </a:r>
            <a:r>
              <a:rPr lang="pl-PL" sz="1800" dirty="0"/>
              <a:t> i </a:t>
            </a:r>
            <a:r>
              <a:rPr lang="pl-PL" sz="1800" dirty="0">
                <a:latin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</a:rPr>
              <a:t>strong</a:t>
            </a:r>
            <a:r>
              <a:rPr lang="pl-PL" sz="1800" dirty="0">
                <a:latin typeface="Courier New" panose="02070309020205020404" pitchFamily="49" charset="0"/>
              </a:rPr>
              <a:t>&gt;</a:t>
            </a:r>
            <a:r>
              <a:rPr lang="pl-PL" sz="1800" dirty="0"/>
              <a:t>.</a:t>
            </a:r>
          </a:p>
          <a:p>
            <a:pPr lvl="2"/>
            <a:endParaRPr lang="pl-PL" sz="1800" dirty="0"/>
          </a:p>
          <a:p>
            <a:pPr lvl="2"/>
            <a:r>
              <a:rPr lang="pl-PL" sz="1800" b="1" dirty="0">
                <a:solidFill>
                  <a:schemeClr val="bg1"/>
                </a:solidFill>
              </a:rPr>
              <a:t>Potomek</a:t>
            </a:r>
            <a:r>
              <a:rPr lang="pl-PL" sz="1800" dirty="0">
                <a:solidFill>
                  <a:schemeClr val="bg1"/>
                </a:solidFill>
              </a:rPr>
              <a:t> </a:t>
            </a:r>
            <a:r>
              <a:rPr lang="pl-PL" sz="1800" dirty="0"/>
              <a:t>— znacznik znajdujący się w innym znaczniku lub innych znacznikach jest potomkiem. Na rysunku znacznik </a:t>
            </a:r>
            <a:r>
              <a:rPr lang="pl-PL" sz="1800" dirty="0">
                <a:latin typeface="Courier New" panose="02070309020205020404" pitchFamily="49" charset="0"/>
              </a:rPr>
              <a:t>&lt;body&gt;</a:t>
            </a:r>
            <a:r>
              <a:rPr lang="pl-PL" sz="1800" dirty="0"/>
              <a:t> jest potomkiem znacznika </a:t>
            </a:r>
            <a:r>
              <a:rPr lang="pl-PL" sz="1800" dirty="0">
                <a:latin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</a:rPr>
              <a:t>html</a:t>
            </a:r>
            <a:r>
              <a:rPr lang="pl-PL" sz="1800" dirty="0">
                <a:latin typeface="Courier New" panose="02070309020205020404" pitchFamily="49" charset="0"/>
              </a:rPr>
              <a:t>&gt;</a:t>
            </a:r>
            <a:r>
              <a:rPr lang="pl-PL" sz="1800" dirty="0"/>
              <a:t>, podczas gdy </a:t>
            </a:r>
            <a:r>
              <a:rPr lang="pl-PL" sz="1800" dirty="0">
                <a:latin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</a:rPr>
              <a:t>title</a:t>
            </a:r>
            <a:r>
              <a:rPr lang="pl-PL" sz="1800" dirty="0">
                <a:latin typeface="Courier New" panose="02070309020205020404" pitchFamily="49" charset="0"/>
              </a:rPr>
              <a:t>&gt;</a:t>
            </a:r>
            <a:r>
              <a:rPr lang="pl-PL" sz="1800" dirty="0"/>
              <a:t> jest potomkiem znaczników </a:t>
            </a:r>
            <a:r>
              <a:rPr lang="pl-PL" sz="1800" dirty="0">
                <a:latin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</a:rPr>
              <a:t>head</a:t>
            </a:r>
            <a:r>
              <a:rPr lang="pl-PL" sz="1800" dirty="0">
                <a:latin typeface="Courier New" panose="02070309020205020404" pitchFamily="49" charset="0"/>
              </a:rPr>
              <a:t>&gt;</a:t>
            </a:r>
            <a:r>
              <a:rPr lang="pl-PL" sz="1800" dirty="0"/>
              <a:t> i </a:t>
            </a:r>
            <a:r>
              <a:rPr lang="pl-PL" sz="1800" dirty="0">
                <a:latin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</a:rPr>
              <a:t>html</a:t>
            </a:r>
            <a:r>
              <a:rPr lang="pl-PL" sz="1800" dirty="0">
                <a:latin typeface="Courier New" panose="02070309020205020404" pitchFamily="49" charset="0"/>
              </a:rPr>
              <a:t>&gt;</a:t>
            </a:r>
            <a:r>
              <a:rPr lang="pl-PL" sz="1800" dirty="0"/>
              <a:t>.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8296ED1-3B60-5C84-A0DA-7E09CFAD3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516" y="2776586"/>
            <a:ext cx="2815915" cy="2719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9915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BCA0-4D1F-8250-839E-99A28E852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92C0E1-7919-0A95-225B-662A37AAE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Drzewo HTML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05D4E19-4BEC-4AC6-BAE6-FCED4D8F6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6563758" cy="3599317"/>
          </a:xfrm>
        </p:spPr>
        <p:txBody>
          <a:bodyPr anchor="t"/>
          <a:lstStyle/>
          <a:p>
            <a:pPr lvl="0"/>
            <a:r>
              <a:rPr lang="pl-PL" sz="2400" dirty="0"/>
              <a:t>Najważniejsze związki to:</a:t>
            </a:r>
          </a:p>
          <a:p>
            <a:pPr lvl="0"/>
            <a:endParaRPr lang="pl-PL" sz="2400" dirty="0"/>
          </a:p>
          <a:p>
            <a:pPr lvl="2"/>
            <a:r>
              <a:rPr lang="pl-PL" sz="1800" b="1" dirty="0">
                <a:solidFill>
                  <a:schemeClr val="bg1"/>
                </a:solidFill>
              </a:rPr>
              <a:t>Rodzic</a:t>
            </a:r>
            <a:r>
              <a:rPr lang="pl-PL" sz="1800" dirty="0">
                <a:solidFill>
                  <a:schemeClr val="bg1"/>
                </a:solidFill>
              </a:rPr>
              <a:t> </a:t>
            </a:r>
            <a:r>
              <a:rPr lang="pl-PL" sz="1800" dirty="0"/>
              <a:t>— rodzic jest najbliższym przodkiem znacznika. Na rysunku rodzicem jest pierwszy znacznik bezpośrednio połączony z innym znacznikiem i znajdujący się nad nim. Tak więc znacznik </a:t>
            </a:r>
            <a:r>
              <a:rPr lang="pl-PL" sz="1800" dirty="0">
                <a:latin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</a:rPr>
              <a:t>html</a:t>
            </a:r>
            <a:r>
              <a:rPr lang="pl-PL" sz="1800" dirty="0">
                <a:latin typeface="Courier New" panose="02070309020205020404" pitchFamily="49" charset="0"/>
              </a:rPr>
              <a:t>&gt;</a:t>
            </a:r>
            <a:r>
              <a:rPr lang="pl-PL" sz="1800" dirty="0"/>
              <a:t> jest rodzicem tylko znaczników </a:t>
            </a:r>
            <a:r>
              <a:rPr lang="pl-PL" sz="1800" dirty="0">
                <a:latin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</a:rPr>
              <a:t>head</a:t>
            </a:r>
            <a:r>
              <a:rPr lang="pl-PL" sz="1800" dirty="0">
                <a:latin typeface="Courier New" panose="02070309020205020404" pitchFamily="49" charset="0"/>
              </a:rPr>
              <a:t>&gt;</a:t>
            </a:r>
            <a:r>
              <a:rPr lang="pl-PL" sz="1800" dirty="0"/>
              <a:t> i </a:t>
            </a:r>
            <a:r>
              <a:rPr lang="pl-PL" sz="1800" dirty="0">
                <a:latin typeface="Courier New" panose="02070309020205020404" pitchFamily="49" charset="0"/>
              </a:rPr>
              <a:t>&lt;body&gt;</a:t>
            </a:r>
            <a:r>
              <a:rPr lang="pl-PL" sz="1800" dirty="0"/>
              <a:t>.</a:t>
            </a:r>
          </a:p>
          <a:p>
            <a:pPr lvl="2"/>
            <a:endParaRPr lang="pl-PL" sz="1800" dirty="0"/>
          </a:p>
          <a:p>
            <a:pPr lvl="2"/>
            <a:r>
              <a:rPr lang="pl-PL" sz="1800" b="1" dirty="0">
                <a:solidFill>
                  <a:schemeClr val="bg1"/>
                </a:solidFill>
              </a:rPr>
              <a:t>Dziecko</a:t>
            </a:r>
            <a:r>
              <a:rPr lang="pl-PL" sz="1800" dirty="0">
                <a:solidFill>
                  <a:schemeClr val="bg1"/>
                </a:solidFill>
              </a:rPr>
              <a:t> </a:t>
            </a:r>
            <a:r>
              <a:rPr lang="pl-PL" sz="1800" dirty="0"/>
              <a:t>— znacznik, który jest bezpośrednio zawarty w innym znaczniku. Na rysunku zarówno znacznik </a:t>
            </a:r>
            <a:r>
              <a:rPr lang="pl-PL" sz="1800" dirty="0">
                <a:latin typeface="Courier New" panose="02070309020205020404" pitchFamily="49" charset="0"/>
              </a:rPr>
              <a:t>&lt;h1&gt;</a:t>
            </a:r>
            <a:r>
              <a:rPr lang="pl-PL" sz="1800" dirty="0"/>
              <a:t>, jak i </a:t>
            </a:r>
            <a:r>
              <a:rPr lang="pl-PL" sz="1800" dirty="0">
                <a:latin typeface="Courier New" panose="02070309020205020404" pitchFamily="49" charset="0"/>
              </a:rPr>
              <a:t>&lt;p&gt;</a:t>
            </a:r>
            <a:r>
              <a:rPr lang="pl-PL" sz="1800" dirty="0"/>
              <a:t> są dziećmi znacznika </a:t>
            </a:r>
            <a:r>
              <a:rPr lang="pl-PL" sz="1800" dirty="0">
                <a:latin typeface="Courier New" panose="02070309020205020404" pitchFamily="49" charset="0"/>
              </a:rPr>
              <a:t>&lt;body&gt;</a:t>
            </a:r>
            <a:r>
              <a:rPr lang="pl-PL" sz="1800" dirty="0"/>
              <a:t>, ale </a:t>
            </a:r>
            <a:r>
              <a:rPr lang="pl-PL" sz="1800" dirty="0">
                <a:latin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</a:rPr>
              <a:t>strong</a:t>
            </a:r>
            <a:r>
              <a:rPr lang="pl-PL" sz="1800" dirty="0">
                <a:latin typeface="Courier New" panose="02070309020205020404" pitchFamily="49" charset="0"/>
              </a:rPr>
              <a:t>&gt;</a:t>
            </a:r>
            <a:r>
              <a:rPr lang="pl-PL" sz="1800" dirty="0"/>
              <a:t> już nie, ponieważ jest on bezpośrednio wewnątrz znacznika </a:t>
            </a:r>
            <a:r>
              <a:rPr lang="pl-PL" sz="1800" dirty="0">
                <a:latin typeface="Courier New" panose="02070309020205020404" pitchFamily="49" charset="0"/>
              </a:rPr>
              <a:t>&lt;p&gt;</a:t>
            </a:r>
            <a:r>
              <a:rPr lang="pl-PL" sz="1800" dirty="0"/>
              <a:t>.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51276CC-A0B7-1468-631A-91F6E6F30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516" y="2776586"/>
            <a:ext cx="2815915" cy="2719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8047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08BC8-F54A-3C5C-15A8-B2CF36D28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C89442-EFDE-07E5-E1E5-855DF2F9B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Drzewo HTML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AD6AB61-4ADD-70F5-482F-38B83F93E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6563758" cy="3599317"/>
          </a:xfrm>
        </p:spPr>
        <p:txBody>
          <a:bodyPr anchor="t"/>
          <a:lstStyle/>
          <a:p>
            <a:pPr lvl="0"/>
            <a:r>
              <a:rPr lang="pl-PL" sz="2400" dirty="0"/>
              <a:t>Najważniejsze związki to:</a:t>
            </a:r>
          </a:p>
          <a:p>
            <a:pPr lvl="0"/>
            <a:endParaRPr lang="pl-PL" sz="2400" dirty="0"/>
          </a:p>
          <a:p>
            <a:pPr lvl="2"/>
            <a:r>
              <a:rPr lang="pl-PL" sz="1800" b="1" dirty="0">
                <a:solidFill>
                  <a:schemeClr val="bg1"/>
                </a:solidFill>
              </a:rPr>
              <a:t>Brat (rodzeństwo)</a:t>
            </a:r>
            <a:r>
              <a:rPr lang="pl-PL" sz="1800" dirty="0"/>
              <a:t> — znaczniki będące dziećmi jednego elementu są nazywane braćmi (rodzeństwem). </a:t>
            </a:r>
          </a:p>
          <a:p>
            <a:pPr lvl="2"/>
            <a:r>
              <a:rPr lang="pl-PL" sz="1800" dirty="0"/>
              <a:t>Na diagramie HTML znaczniki braci znajdują się obok siebie i połączone są z tym samym rodzicem. Na rysunku znaczniki </a:t>
            </a:r>
            <a:r>
              <a:rPr lang="pl-PL" sz="1800" dirty="0">
                <a:latin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</a:rPr>
              <a:t>head</a:t>
            </a:r>
            <a:r>
              <a:rPr lang="pl-PL" sz="1800" dirty="0">
                <a:latin typeface="Courier New" panose="02070309020205020404" pitchFamily="49" charset="0"/>
              </a:rPr>
              <a:t>&gt;</a:t>
            </a:r>
            <a:r>
              <a:rPr lang="pl-PL" sz="1800" dirty="0"/>
              <a:t> i </a:t>
            </a:r>
            <a:r>
              <a:rPr lang="pl-PL" sz="1800" dirty="0">
                <a:latin typeface="Courier New" panose="02070309020205020404" pitchFamily="49" charset="0"/>
              </a:rPr>
              <a:t>&lt;body&gt;</a:t>
            </a:r>
            <a:r>
              <a:rPr lang="pl-PL" sz="1800" dirty="0"/>
              <a:t> są braćmi, podobnie jak </a:t>
            </a:r>
            <a:r>
              <a:rPr lang="pl-PL" sz="1800" dirty="0">
                <a:latin typeface="Courier New" panose="02070309020205020404" pitchFamily="49" charset="0"/>
              </a:rPr>
              <a:t>&lt;h1&gt;</a:t>
            </a:r>
            <a:r>
              <a:rPr lang="pl-PL" sz="1800" dirty="0"/>
              <a:t> i </a:t>
            </a:r>
            <a:r>
              <a:rPr lang="pl-PL" sz="1800" dirty="0">
                <a:latin typeface="Courier New" panose="02070309020205020404" pitchFamily="49" charset="0"/>
              </a:rPr>
              <a:t>&lt;p&gt;</a:t>
            </a:r>
            <a:r>
              <a:rPr lang="pl-PL" sz="1800" dirty="0"/>
              <a:t>.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B5CDFA4-57E5-25F5-8C57-CF0297281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516" y="2776586"/>
            <a:ext cx="2815915" cy="2719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0222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034E36-D86A-81C2-6670-2723EF49E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Selektory potomków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8682DD8-EC00-47EA-57DB-7A6670B69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Selektory potomka pozwalają wykorzystać drzewo HTML, formatując znaczniki w zależności od tego, czy znajdują się one w określonych innych znacznikach lub stylach.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p </a:t>
            </a:r>
            <a:r>
              <a:rPr lang="pl-PL" dirty="0" err="1"/>
              <a:t>strong</a:t>
            </a:r>
            <a:r>
              <a:rPr lang="pl-PL" dirty="0"/>
              <a:t> {</a:t>
            </a:r>
            <a:r>
              <a:rPr lang="pl-PL" dirty="0" err="1"/>
              <a:t>color</a:t>
            </a:r>
            <a:r>
              <a:rPr lang="pl-PL" dirty="0"/>
              <a:t>: red;}</a:t>
            </a:r>
          </a:p>
          <a:p>
            <a:pPr lvl="0"/>
            <a:r>
              <a:rPr lang="pl-PL" sz="1800" dirty="0"/>
              <a:t>Zawartość wszystkich znaczników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 </a:t>
            </a:r>
          </a:p>
          <a:p>
            <a:pPr lvl="0"/>
            <a:r>
              <a:rPr lang="pl-PL" sz="1800" dirty="0"/>
              <a:t>znajdujących się w znaczniku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 </a:t>
            </a:r>
            <a:r>
              <a:rPr lang="pl-PL" sz="1800" dirty="0"/>
              <a:t>będzie miała kolor czerwony.</a:t>
            </a:r>
          </a:p>
          <a:p>
            <a:pPr lvl="0"/>
            <a:endParaRPr lang="pl-PL" sz="1800" dirty="0"/>
          </a:p>
          <a:p>
            <a:pPr lvl="0"/>
            <a:r>
              <a:rPr lang="pl-PL" sz="1800" dirty="0"/>
              <a:t>Pozostałe znaczniki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 na stronie pozostaną nietknięte.</a:t>
            </a:r>
          </a:p>
        </p:txBody>
      </p:sp>
    </p:spTree>
    <p:extLst>
      <p:ext uri="{BB962C8B-B14F-4D97-AF65-F5344CB8AC3E}">
        <p14:creationId xmlns:p14="http://schemas.microsoft.com/office/powerpoint/2010/main" val="419661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034E36-D86A-81C2-6670-2723EF49E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Selektory potomków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8682DD8-EC00-47EA-57DB-7A6670B69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Selektor potomka tworzy się poprzez łączne użycie selektorów zgodnie z częścią drzewa, którą chcemy formatować.</a:t>
            </a:r>
          </a:p>
          <a:p>
            <a:pPr lvl="0"/>
            <a:r>
              <a:rPr lang="pl-PL" dirty="0"/>
              <a:t>Przodek najwyższego rzędu (najstarszy) powinien znajdować się po lewej stronie, a selektor znacznika, który ma zostać sformatowany na </a:t>
            </a:r>
            <a:r>
              <a:rPr lang="pl-PL" b="1" dirty="0"/>
              <a:t>samym końcu</a:t>
            </a:r>
            <a:r>
              <a:rPr lang="pl-PL" dirty="0"/>
              <a:t>, po prawej stronie.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li a {</a:t>
            </a:r>
            <a:r>
              <a:rPr lang="pl-PL" dirty="0" err="1"/>
              <a:t>font</a:t>
            </a:r>
            <a:r>
              <a:rPr lang="pl-PL" dirty="0"/>
              <a:t>-family: Arial;}</a:t>
            </a:r>
          </a:p>
        </p:txBody>
      </p:sp>
    </p:spTree>
    <p:extLst>
      <p:ext uri="{BB962C8B-B14F-4D97-AF65-F5344CB8AC3E}">
        <p14:creationId xmlns:p14="http://schemas.microsoft.com/office/powerpoint/2010/main" val="3322052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5BE5EF-4C9A-FA20-5BC2-70CA626E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Pseudoklasy</a:t>
            </a:r>
            <a:r>
              <a:rPr lang="pl-PL" dirty="0"/>
              <a:t> i </a:t>
            </a:r>
            <a:r>
              <a:rPr lang="pl-PL" dirty="0" err="1"/>
              <a:t>pseudoelementy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C058E54-28F0-3440-3BE1-227D9ACBE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Są używane do formatowania takich części strony,</a:t>
            </a:r>
            <a:br>
              <a:rPr lang="pl-PL" dirty="0"/>
            </a:br>
            <a:r>
              <a:rPr lang="pl-PL" dirty="0"/>
              <a:t>które nie są oznaczone żadnymi znacznikami,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trzeba posłużyć się </a:t>
            </a:r>
          </a:p>
          <a:p>
            <a:pPr lvl="0"/>
            <a:r>
              <a:rPr lang="pl-PL" b="1" dirty="0" err="1">
                <a:solidFill>
                  <a:schemeClr val="bg1"/>
                </a:solidFill>
              </a:rPr>
              <a:t>pseudoklasami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/>
              <a:t>i </a:t>
            </a:r>
            <a:r>
              <a:rPr lang="pl-PL" b="1" dirty="0" err="1">
                <a:solidFill>
                  <a:schemeClr val="bg1"/>
                </a:solidFill>
              </a:rPr>
              <a:t>pseudoelementami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2001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4FB390-845D-F0ED-DEA6-B0D02EB7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Style odnośników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24B6AE3-38C1-099E-E897-96F2E980F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Istnieją cztery </a:t>
            </a:r>
            <a:r>
              <a:rPr lang="pl-PL" dirty="0" err="1"/>
              <a:t>pseudoklasy</a:t>
            </a:r>
            <a:r>
              <a:rPr lang="pl-PL" dirty="0"/>
              <a:t>, które pozwalają formatować odnośniki będące </a:t>
            </a:r>
            <a:br>
              <a:rPr lang="pl-PL" dirty="0"/>
            </a:br>
            <a:r>
              <a:rPr lang="pl-PL" dirty="0"/>
              <a:t>w jednym z czterech stanów wywoływanych przez odwiedzającego.</a:t>
            </a:r>
          </a:p>
          <a:p>
            <a:pPr lvl="0"/>
            <a:endParaRPr lang="pl-PL" dirty="0"/>
          </a:p>
          <a:p>
            <a:pPr lvl="2"/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</a:rPr>
              <a:t>a:link</a:t>
            </a:r>
            <a:r>
              <a:rPr lang="pl-PL" dirty="0"/>
              <a:t> — wybiera wszystkie jeszcze nieodwiedzone odnośniki, jeśli nie znajduje się nad nimi kursor i nie są właśnie klikane. Ten styl odpowiada za zwykły, nieodwiedzony odnośnik.</a:t>
            </a:r>
          </a:p>
          <a:p>
            <a:pPr lvl="2"/>
            <a:endParaRPr lang="pl-PL" dirty="0"/>
          </a:p>
          <a:p>
            <a:pPr lvl="2"/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</a:rPr>
              <a:t>a:visited</a:t>
            </a:r>
            <a:r>
              <a:rPr lang="pl-PL" dirty="0"/>
              <a:t> — odnośnik, który był już wcześniej kliknięty, a informacja ta znajduje się w historii przeglądarki.</a:t>
            </a:r>
          </a:p>
        </p:txBody>
      </p:sp>
    </p:spTree>
    <p:extLst>
      <p:ext uri="{BB962C8B-B14F-4D97-AF65-F5344CB8AC3E}">
        <p14:creationId xmlns:p14="http://schemas.microsoft.com/office/powerpoint/2010/main" val="1361154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4FB390-845D-F0ED-DEA6-B0D02EB7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Style odnośników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24B6AE3-38C1-099E-E897-96F2E980F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Istnieją cztery </a:t>
            </a:r>
            <a:r>
              <a:rPr lang="pl-PL" dirty="0" err="1"/>
              <a:t>pseudoklasy</a:t>
            </a:r>
            <a:r>
              <a:rPr lang="pl-PL" dirty="0"/>
              <a:t>, które pozwalają formatować odnośniki będące </a:t>
            </a:r>
            <a:br>
              <a:rPr lang="pl-PL" dirty="0"/>
            </a:br>
            <a:r>
              <a:rPr lang="pl-PL" dirty="0"/>
              <a:t>w jednym z czterech stanów wywoływanych przez odwiedzającego.</a:t>
            </a:r>
          </a:p>
          <a:p>
            <a:pPr lvl="0"/>
            <a:endParaRPr lang="pl-PL" dirty="0"/>
          </a:p>
          <a:p>
            <a:pPr lvl="2"/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</a:rPr>
              <a:t>a:hover</a:t>
            </a:r>
            <a:r>
              <a:rPr lang="pl-PL" dirty="0"/>
              <a:t> — pozwala na zmianę wyglądu odnośnika w momencie najechania na niego myszą. Efekty najechania myszą na odnośnik mogą dostarczać przydatnych informacji dla przycisków na pasku nawigacyjnym. </a:t>
            </a:r>
            <a:r>
              <a:rPr lang="pl-PL" dirty="0" err="1"/>
              <a:t>Pseudoklasy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</a:rPr>
              <a:t>hover</a:t>
            </a:r>
            <a:r>
              <a:rPr lang="pl-PL" dirty="0"/>
              <a:t> można używać także z innymi elementami niż odnośniki.</a:t>
            </a:r>
          </a:p>
          <a:p>
            <a:pPr lvl="2"/>
            <a:endParaRPr lang="pl-PL" dirty="0"/>
          </a:p>
          <a:p>
            <a:pPr lvl="2"/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</a:rPr>
              <a:t>a:active</a:t>
            </a:r>
            <a:r>
              <a:rPr lang="pl-PL" dirty="0"/>
              <a:t> — pozwala określić wygląd odnośnika w momencie kliknięcia go. Innymi słowy, odpowiada za krótką chwilę od momentu wciśnięcia przycisku myszy do jego zwolnienia.</a:t>
            </a:r>
          </a:p>
        </p:txBody>
      </p:sp>
    </p:spTree>
    <p:extLst>
      <p:ext uri="{BB962C8B-B14F-4D97-AF65-F5344CB8AC3E}">
        <p14:creationId xmlns:p14="http://schemas.microsoft.com/office/powerpoint/2010/main" val="2404368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D2954D-3510-6EEB-B458-2DDF23FA7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Stylizowanie fragmentów akapitu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B1AB6F1-51DA-CC2A-2225-C78EB7325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W CSS </a:t>
            </a:r>
            <a:r>
              <a:rPr lang="en-US" dirty="0" err="1"/>
              <a:t>są</a:t>
            </a:r>
            <a:r>
              <a:rPr lang="en-US" dirty="0"/>
              <a:t> </a:t>
            </a:r>
            <a:r>
              <a:rPr lang="en-US" dirty="0" err="1"/>
              <a:t>dwa</a:t>
            </a:r>
            <a:r>
              <a:rPr lang="en-US" dirty="0"/>
              <a:t> </a:t>
            </a:r>
            <a:r>
              <a:rPr lang="en-US" dirty="0" err="1"/>
              <a:t>pseudoelementy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::first-letter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::first-line</a:t>
            </a:r>
            <a:r>
              <a:rPr lang="en-US" dirty="0"/>
              <a:t>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Aby odróżnić </a:t>
            </a:r>
            <a:r>
              <a:rPr lang="pl-PL" dirty="0" err="1"/>
              <a:t>pseudoelementy</a:t>
            </a:r>
            <a:r>
              <a:rPr lang="pl-PL" dirty="0"/>
              <a:t> od </a:t>
            </a:r>
            <a:r>
              <a:rPr lang="pl-PL" dirty="0" err="1"/>
              <a:t>pseudoklas</a:t>
            </a:r>
            <a:r>
              <a:rPr lang="pl-PL" dirty="0"/>
              <a:t>, używamy dwóch dwukropków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first-letter</a:t>
            </a:r>
            <a:r>
              <a:rPr lang="pl-PL" dirty="0"/>
              <a:t> i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first-line</a:t>
            </a:r>
            <a:r>
              <a:rPr lang="pl-PL" dirty="0"/>
              <a:t>. 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Na szczęście przeglądarki nadal obsługują także starą wersję zapisu </a:t>
            </a:r>
            <a:r>
              <a:rPr lang="pl-PL" sz="1800" dirty="0" err="1"/>
              <a:t>pseudoelementów</a:t>
            </a:r>
            <a:r>
              <a:rPr lang="pl-PL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4295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A26977-5CC0-02FD-83E2-EE6EF5A1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Pseudoklasa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focus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3F2A54F-266E-073F-518A-3548CBC13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 err="1"/>
              <a:t>Pseudoklasa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focus</a:t>
            </a:r>
            <a:r>
              <a:rPr lang="pl-PL" dirty="0"/>
              <a:t> działa podobnie jak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hover</a:t>
            </a:r>
            <a:r>
              <a:rPr lang="pl-PL" dirty="0"/>
              <a:t>. </a:t>
            </a:r>
          </a:p>
          <a:p>
            <a:pPr lvl="0"/>
            <a:r>
              <a:rPr lang="pl-PL" dirty="0"/>
              <a:t>Podczas gdy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hover</a:t>
            </a:r>
            <a:r>
              <a:rPr lang="pl-PL" dirty="0"/>
              <a:t> ma zastosowanie, gdy użytkownik najedzie myszą na odnośnik, </a:t>
            </a:r>
          </a:p>
          <a:p>
            <a:pPr lvl="0"/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focus</a:t>
            </a:r>
            <a:r>
              <a:rPr lang="pl-PL" dirty="0"/>
              <a:t> reaguje na zdarzenie, podczas którego użytkownik kliknie lub naciśnie klawisz Tab.</a:t>
            </a:r>
          </a:p>
          <a:p>
            <a:pPr lvl="0"/>
            <a:endParaRPr lang="pl-PL" dirty="0"/>
          </a:p>
          <a:p>
            <a:pPr lvl="1"/>
            <a:r>
              <a:rPr lang="pl-PL" dirty="0" err="1"/>
              <a:t>input:focus</a:t>
            </a:r>
            <a:r>
              <a:rPr lang="pl-PL" dirty="0"/>
              <a:t> {</a:t>
            </a:r>
            <a:r>
              <a:rPr lang="pl-PL" dirty="0" err="1"/>
              <a:t>background-color</a:t>
            </a:r>
            <a:r>
              <a:rPr lang="pl-PL" dirty="0"/>
              <a:t>: #FFFFCC;}</a:t>
            </a:r>
          </a:p>
        </p:txBody>
      </p:sp>
    </p:spTree>
    <p:extLst>
      <p:ext uri="{BB962C8B-B14F-4D97-AF65-F5344CB8AC3E}">
        <p14:creationId xmlns:p14="http://schemas.microsoft.com/office/powerpoint/2010/main" val="880458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5E6483-7A60-83F1-24DA-0FB8623E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Pseudoelement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84C6C1E-409D-597E-EC60-E2148A32F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 err="1"/>
              <a:t>Pseudoelement</a:t>
            </a:r>
            <a:r>
              <a:rPr lang="pl-PL" dirty="0"/>
              <a:t>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r>
              <a:rPr lang="pl-PL" dirty="0"/>
              <a:t> pozwala dodać treść przed dowolnym wybranym elementem.</a:t>
            </a:r>
          </a:p>
          <a:p>
            <a:pPr lvl="0"/>
            <a:endParaRPr lang="pl-PL" dirty="0"/>
          </a:p>
          <a:p>
            <a:pPr lvl="1"/>
            <a:r>
              <a:rPr lang="pl-PL" dirty="0" err="1"/>
              <a:t>p.tip:before</a:t>
            </a:r>
            <a:r>
              <a:rPr lang="pl-PL" dirty="0"/>
              <a:t> {</a:t>
            </a:r>
            <a:r>
              <a:rPr lang="pl-PL" dirty="0" err="1"/>
              <a:t>content</a:t>
            </a:r>
            <a:r>
              <a:rPr lang="pl-PL" dirty="0"/>
              <a:t>: "GORĄCA WSKAZÓWKA"}</a:t>
            </a:r>
          </a:p>
          <a:p>
            <a:pPr lvl="0"/>
            <a:r>
              <a:rPr lang="pl-PL" dirty="0"/>
              <a:t>Za każdym razem, gdy przeglądarka napotka klasę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</a:t>
            </a:r>
            <a:r>
              <a:rPr lang="pl-PL" dirty="0"/>
              <a:t> w znaczniku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, wstawi przed nim tekst GORĄCA WSKAZÓWKA.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Tekst dodawany za pomocą </a:t>
            </a:r>
            <a:r>
              <a:rPr lang="pl-PL" sz="1800" dirty="0" err="1"/>
              <a:t>pseudoelementu</a:t>
            </a:r>
            <a:r>
              <a:rPr lang="pl-PL" sz="1800" dirty="0"/>
              <a:t>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pl-P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r>
              <a:rPr lang="pl-PL" sz="1800" dirty="0"/>
              <a:t> nazywa się </a:t>
            </a:r>
            <a:r>
              <a:rPr lang="pl-PL" sz="1800" b="1" dirty="0"/>
              <a:t>treścią generowaną dynamicznie</a:t>
            </a:r>
            <a:r>
              <a:rPr lang="pl-PL" sz="1800" dirty="0"/>
              <a:t>, ponieważ jest tworzony w locie przez przeglądarkę.</a:t>
            </a:r>
          </a:p>
        </p:txBody>
      </p:sp>
    </p:spTree>
    <p:extLst>
      <p:ext uri="{BB962C8B-B14F-4D97-AF65-F5344CB8AC3E}">
        <p14:creationId xmlns:p14="http://schemas.microsoft.com/office/powerpoint/2010/main" val="1329550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D2C0FC-5BCC-F196-ACE6-2A81A44FF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Pseudoelement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A1C7506-DF91-F489-47AF-E300C1802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 err="1"/>
              <a:t>Pseudoelement</a:t>
            </a:r>
            <a:r>
              <a:rPr lang="pl-PL" dirty="0"/>
              <a:t>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</a:t>
            </a:r>
            <a:r>
              <a:rPr lang="pl-PL" dirty="0"/>
              <a:t> dodaje treść generowaną dynamicznie</a:t>
            </a:r>
          </a:p>
          <a:p>
            <a:pPr lvl="0"/>
            <a:r>
              <a:rPr lang="pl-PL" b="1" dirty="0"/>
              <a:t>za wybranym elementem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574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6317BA-087E-8CD9-9D84-7531170C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Pseudoelement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selection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6521E8F-F592-6B71-B601-AC2D30762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Ten selektor odnosi się do elementów, które zostały zaznaczone przez użytkownika.</a:t>
            </a:r>
          </a:p>
          <a:p>
            <a:pPr lvl="0"/>
            <a:r>
              <a:rPr lang="pl-PL" dirty="0"/>
              <a:t> </a:t>
            </a:r>
          </a:p>
          <a:p>
            <a:pPr lvl="1"/>
            <a:r>
              <a:rPr lang="pl-PL" dirty="0"/>
              <a:t>::</a:t>
            </a:r>
            <a:r>
              <a:rPr lang="pl-PL" dirty="0" err="1"/>
              <a:t>selection</a:t>
            </a:r>
            <a:r>
              <a:rPr lang="pl-PL" dirty="0"/>
              <a:t> {</a:t>
            </a:r>
          </a:p>
          <a:p>
            <a:pPr marL="914400" lvl="2" indent="0">
              <a:buNone/>
            </a:pPr>
            <a:r>
              <a:rPr lang="pl-PL" sz="2000" dirty="0" err="1">
                <a:latin typeface="Courier New" panose="02070309020205020404" pitchFamily="49" charset="0"/>
              </a:rPr>
              <a:t>color</a:t>
            </a:r>
            <a:r>
              <a:rPr lang="pl-PL" sz="2000" dirty="0">
                <a:latin typeface="Courier New" panose="02070309020205020404" pitchFamily="49" charset="0"/>
              </a:rPr>
              <a:t>: #FFFFFF;</a:t>
            </a:r>
          </a:p>
          <a:p>
            <a:pPr marL="914400" lvl="2" indent="0">
              <a:buNone/>
            </a:pPr>
            <a:r>
              <a:rPr lang="pl-PL" sz="2000" dirty="0" err="1">
                <a:latin typeface="Courier New" panose="02070309020205020404" pitchFamily="49" charset="0"/>
              </a:rPr>
              <a:t>background-color</a:t>
            </a:r>
            <a:r>
              <a:rPr lang="pl-PL" sz="2000" dirty="0">
                <a:latin typeface="Courier New" panose="02070309020205020404" pitchFamily="49" charset="0"/>
              </a:rPr>
              <a:t>: #993366;</a:t>
            </a:r>
          </a:p>
          <a:p>
            <a:pPr lvl="1"/>
            <a:r>
              <a:rPr lang="pl-PL" dirty="0"/>
              <a:t>}</a:t>
            </a:r>
          </a:p>
          <a:p>
            <a:pPr lvl="0"/>
            <a:r>
              <a:rPr lang="pl-PL" dirty="0"/>
              <a:t>Przy użyciu tego selektora można definiować tylko własności 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/>
              <a:t>i 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background-color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583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17AFA-9F09-7C33-B2EE-DBB2B4B1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Selektory atrybutu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135361A-FD8A-59E9-9EE9-8D30FFFE0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CSS umożliwia formatowanie znaczników na podstawie posiadanych przez nich atrybutów.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Dzięki selektorom atrybutów można odnosić się do znaczników o określonych właściwościach.</a:t>
            </a:r>
          </a:p>
          <a:p>
            <a:pPr lvl="0"/>
            <a:r>
              <a:rPr lang="pl-PL" dirty="0"/>
              <a:t>Poniższy selektor wybiera wszystkie znaczniki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dirty="0"/>
              <a:t> z atrybutem 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pl-PL" dirty="0"/>
              <a:t>:</a:t>
            </a:r>
          </a:p>
          <a:p>
            <a:pPr lvl="0"/>
            <a:endParaRPr lang="pl-PL" dirty="0"/>
          </a:p>
          <a:p>
            <a:pPr lvl="1"/>
            <a:r>
              <a:rPr lang="pl-PL" dirty="0" err="1"/>
              <a:t>img</a:t>
            </a:r>
            <a:r>
              <a:rPr lang="pl-PL" dirty="0"/>
              <a:t>[</a:t>
            </a:r>
            <a:r>
              <a:rPr lang="pl-PL" dirty="0" err="1"/>
              <a:t>title</a:t>
            </a:r>
            <a:r>
              <a:rPr lang="pl-PL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99600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17AFA-9F09-7C33-B2EE-DBB2B4B1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Selektory atrybutu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135361A-FD8A-59E9-9EE9-8D30FFFE0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Atrybuty selektorów można stosować także do klasy.</a:t>
            </a:r>
          </a:p>
          <a:p>
            <a:pPr lvl="0"/>
            <a:r>
              <a:rPr lang="pl-PL" dirty="0"/>
              <a:t>Selektor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photo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pl-PL" dirty="0"/>
              <a:t> dopasowuje się do wszystkich elementów klasy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photo</a:t>
            </a:r>
            <a:r>
              <a:rPr lang="pl-PL" dirty="0"/>
              <a:t>, które mają atrybut HTML 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pl-PL" dirty="0"/>
              <a:t>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Można wybrać elementy, które mają określony atrybut o określonej wartości.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a[</a:t>
            </a:r>
            <a:r>
              <a:rPr lang="pl-PL" dirty="0" err="1"/>
              <a:t>href</a:t>
            </a:r>
            <a:r>
              <a:rPr lang="pl-PL" dirty="0"/>
              <a:t>="http://www.cafesoylentgreen.com"]{</a:t>
            </a:r>
          </a:p>
          <a:p>
            <a:pPr lvl="1"/>
            <a:r>
              <a:rPr lang="pl-PL" dirty="0"/>
              <a:t>  </a:t>
            </a:r>
            <a:r>
              <a:rPr lang="pl-PL" dirty="0" err="1"/>
              <a:t>color</a:t>
            </a:r>
            <a:r>
              <a:rPr lang="pl-PL" dirty="0"/>
              <a:t>: red;</a:t>
            </a:r>
          </a:p>
          <a:p>
            <a:pPr lvl="1"/>
            <a:r>
              <a:rPr lang="pl-PL" dirty="0"/>
              <a:t>  </a:t>
            </a:r>
            <a:r>
              <a:rPr lang="pl-PL" dirty="0" err="1"/>
              <a:t>font-weight</a:t>
            </a:r>
            <a:r>
              <a:rPr lang="pl-PL" dirty="0"/>
              <a:t>: </a:t>
            </a:r>
            <a:r>
              <a:rPr lang="pl-PL" dirty="0" err="1"/>
              <a:t>bold</a:t>
            </a:r>
            <a:r>
              <a:rPr lang="pl-PL" dirty="0"/>
              <a:t>;</a:t>
            </a:r>
          </a:p>
          <a:p>
            <a:pPr lvl="1"/>
            <a:r>
              <a:rPr lang="pl-P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0275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17AFA-9F09-7C33-B2EE-DBB2B4B1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Selektory atrybutu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135361A-FD8A-59E9-9EE9-8D30FFFE0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Za pomocą selektora atrybutu można wskazywać znaczniki mające atrybut o wartości zaczynającą się lub kończącą się określonym łańcuchem znaków bądź go zawierające.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a[</a:t>
            </a:r>
            <a:r>
              <a:rPr lang="pl-PL" dirty="0" err="1"/>
              <a:t>href</a:t>
            </a:r>
            <a:r>
              <a:rPr lang="pl-PL" dirty="0"/>
              <a:t>^="http://"]</a:t>
            </a:r>
          </a:p>
          <a:p>
            <a:pPr lvl="0"/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^=</a:t>
            </a:r>
            <a:r>
              <a:rPr lang="pl-PL" dirty="0"/>
              <a:t> oznacza początek wartości atrybutu, selektor odnosi się do wszystkich odnośników, których adres zaczyna się od znaków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http://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a[</a:t>
            </a:r>
            <a:r>
              <a:rPr lang="pl-PL" dirty="0" err="1"/>
              <a:t>href</a:t>
            </a:r>
            <a:r>
              <a:rPr lang="pl-PL" dirty="0"/>
              <a:t>$=".pdf"]</a:t>
            </a:r>
          </a:p>
          <a:p>
            <a:pPr lvl="0"/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$=</a:t>
            </a:r>
            <a:r>
              <a:rPr lang="pl-PL" dirty="0"/>
              <a:t> oznacza koniec wartości atrybutu, selektor odnosi się do wszystkich odnośników, których adres kończy się na znakach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.pdf</a:t>
            </a:r>
          </a:p>
        </p:txBody>
      </p:sp>
    </p:spTree>
    <p:extLst>
      <p:ext uri="{BB962C8B-B14F-4D97-AF65-F5344CB8AC3E}">
        <p14:creationId xmlns:p14="http://schemas.microsoft.com/office/powerpoint/2010/main" val="1289624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A17AFA-9F09-7C33-B2EE-DBB2B4B1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Selektory atrybutu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135361A-FD8A-59E9-9EE9-8D30FFFE0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Za pomocą selektora atrybutu można wskazywać znaczniki mające atrybut o wartości zaczynającą się lub kończącą się określonym łańcuchem znaków bądź go zawierające.</a:t>
            </a:r>
          </a:p>
          <a:p>
            <a:pPr lvl="0"/>
            <a:endParaRPr lang="pl-PL" dirty="0"/>
          </a:p>
          <a:p>
            <a:pPr lvl="1"/>
            <a:r>
              <a:rPr lang="pl-PL" dirty="0" err="1"/>
              <a:t>img</a:t>
            </a:r>
            <a:r>
              <a:rPr lang="pl-PL" dirty="0"/>
              <a:t>[</a:t>
            </a:r>
            <a:r>
              <a:rPr lang="pl-PL" dirty="0" err="1"/>
              <a:t>src</a:t>
            </a:r>
            <a:r>
              <a:rPr lang="pl-PL" dirty="0"/>
              <a:t>*="</a:t>
            </a:r>
            <a:r>
              <a:rPr lang="pl-PL" dirty="0" err="1"/>
              <a:t>headshot</a:t>
            </a:r>
            <a:r>
              <a:rPr lang="pl-PL" dirty="0"/>
              <a:t>"]</a:t>
            </a:r>
          </a:p>
          <a:p>
            <a:pPr lvl="0"/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*=</a:t>
            </a:r>
            <a:r>
              <a:rPr lang="pl-PL" dirty="0"/>
              <a:t> ciąg w cudzysłowie (tu 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headshot</a:t>
            </a:r>
            <a:r>
              <a:rPr lang="pl-PL" dirty="0"/>
              <a:t>) występuje wewnątrz wartości atrybutu, selektor odnosi się do wszystkich obrazów, zawierających ciąg 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headshot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168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6BBE38-04D8-7420-03C9-A1BC8A37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 dziecka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69C75DE-50CB-5811-AE57-903CFF665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CSS pozwala na formatowanie dzieci znaczników, za pomocą nawiasu ostrego (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dirty="0"/>
              <a:t>) w celu oznaczenia związku pomiędzy dwoma elementami.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Selektor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 &gt; h1</a:t>
            </a:r>
            <a:r>
              <a:rPr lang="pl-PL" dirty="0"/>
              <a:t> wybiera wszystkie znaczniki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&lt;h1&gt;</a:t>
            </a:r>
            <a:r>
              <a:rPr lang="pl-PL" dirty="0"/>
              <a:t> będące dziećmi znacznika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dirty="0"/>
              <a:t>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W przeciwieństwie do selektora potomka, który odnosi się do wszystkich potomków danego znacznika </a:t>
            </a:r>
            <a:br>
              <a:rPr lang="pl-PL" sz="1800" dirty="0"/>
            </a:br>
            <a:r>
              <a:rPr lang="pl-PL" sz="1800" dirty="0"/>
              <a:t>(dzieci, wnuków itd.), </a:t>
            </a:r>
            <a:br>
              <a:rPr lang="pl-PL" sz="1800" dirty="0"/>
            </a:br>
            <a:r>
              <a:rPr lang="pl-PL" sz="1800" dirty="0"/>
              <a:t>selektor dziecka pozwala określić, o które dziecko którego rodzica chodzi.</a:t>
            </a:r>
          </a:p>
        </p:txBody>
      </p:sp>
    </p:spTree>
    <p:extLst>
      <p:ext uri="{BB962C8B-B14F-4D97-AF65-F5344CB8AC3E}">
        <p14:creationId xmlns:p14="http://schemas.microsoft.com/office/powerpoint/2010/main" val="25921633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6BBE38-04D8-7420-03C9-A1BC8A37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 dziecka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69C75DE-50CB-5811-AE57-903CFF665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W CSS3 dostępnych jest kilka bardzo konkretnych </a:t>
            </a:r>
            <a:r>
              <a:rPr lang="pl-PL" dirty="0" err="1"/>
              <a:t>pseudoklas</a:t>
            </a:r>
            <a:r>
              <a:rPr lang="pl-PL" dirty="0"/>
              <a:t> do wybierania elementów dziecka. </a:t>
            </a:r>
          </a:p>
          <a:p>
            <a:pPr lvl="0"/>
            <a:endParaRPr lang="pl-PL" dirty="0"/>
          </a:p>
          <a:p>
            <a:pPr lvl="0"/>
            <a:r>
              <a:rPr lang="pl-PL" dirty="0" err="1"/>
              <a:t>Pseudoklasa</a:t>
            </a:r>
            <a:r>
              <a:rPr lang="pl-PL" dirty="0"/>
              <a:t>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first-child</a:t>
            </a:r>
            <a:endParaRPr lang="pl-PL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pl-PL" sz="1800" dirty="0" err="1"/>
              <a:t>Pseudoklasa</a:t>
            </a:r>
            <a:r>
              <a:rPr lang="pl-PL" sz="1800" dirty="0"/>
              <a:t> </a:t>
            </a:r>
            <a:r>
              <a:rPr lang="pl-PL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first-child</a:t>
            </a:r>
            <a:r>
              <a:rPr lang="pl-PL" sz="1800" dirty="0"/>
              <a:t> pozwala formatować wszystkie elementy będące pierwszym dzieckiem danego elementu.</a:t>
            </a:r>
          </a:p>
          <a:p>
            <a:pPr lvl="0"/>
            <a:endParaRPr lang="pl-PL" dirty="0"/>
          </a:p>
          <a:p>
            <a:pPr lvl="0"/>
            <a:r>
              <a:rPr lang="pl-PL" dirty="0" err="1"/>
              <a:t>Pseudoklasa</a:t>
            </a:r>
            <a:r>
              <a:rPr lang="pl-PL" dirty="0"/>
              <a:t>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last-child</a:t>
            </a:r>
            <a:endParaRPr lang="pl-PL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pl-PL" sz="1800" dirty="0"/>
              <a:t>Ta </a:t>
            </a:r>
            <a:r>
              <a:rPr lang="pl-PL" sz="1800" dirty="0" err="1"/>
              <a:t>pseudoklasa</a:t>
            </a:r>
            <a:r>
              <a:rPr lang="pl-PL" sz="1800" dirty="0"/>
              <a:t> działa podobnie do </a:t>
            </a:r>
            <a:r>
              <a:rPr lang="pl-PL" sz="1800" dirty="0" err="1"/>
              <a:t>pseudoklasy</a:t>
            </a:r>
            <a:r>
              <a:rPr lang="pl-PL" sz="1800" dirty="0"/>
              <a:t> </a:t>
            </a:r>
            <a:r>
              <a:rPr lang="pl-PL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first-child</a:t>
            </a:r>
            <a:r>
              <a:rPr lang="pl-PL" sz="1800" dirty="0"/>
              <a:t>, tyle, że dotyczy ostatniego elementu dziecka.</a:t>
            </a:r>
          </a:p>
        </p:txBody>
      </p:sp>
    </p:spTree>
    <p:extLst>
      <p:ext uri="{BB962C8B-B14F-4D97-AF65-F5344CB8AC3E}">
        <p14:creationId xmlns:p14="http://schemas.microsoft.com/office/powerpoint/2010/main" val="39791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C2B9DD-C013-E77C-F882-E54CB5886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Pseudoklasa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nth-child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16C8B9D-C47B-A20E-984B-BB080BD1C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Skomplikowany, ale niezwykle przydatny selektor.</a:t>
            </a:r>
          </a:p>
          <a:p>
            <a:pPr lvl="0"/>
            <a:r>
              <a:rPr lang="pl-PL" dirty="0"/>
              <a:t>Za jego pomocą można na przykład sformatować co drugi wiersz tabeli, bądź co trzeci element listy. Elementy do sformatowania określa się za pomocą specjalnych wartości.</a:t>
            </a:r>
          </a:p>
          <a:p>
            <a:pPr lvl="0"/>
            <a:r>
              <a:rPr lang="pl-PL" dirty="0"/>
              <a:t>Najłatwiej jest użyć słów kluczowych 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</a:t>
            </a:r>
            <a:r>
              <a:rPr lang="pl-PL" dirty="0"/>
              <a:t> (parzysty) i 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odd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/>
              <a:t>(nieparzysty).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Aby parzystym wierszom tabeli nadać jeden kolor tła, a nieparzystym inny, można napisać poniższe dwie reguły CSS:</a:t>
            </a:r>
          </a:p>
          <a:p>
            <a:pPr lvl="1"/>
            <a:r>
              <a:rPr lang="en-US" dirty="0" err="1"/>
              <a:t>tr:nth-child</a:t>
            </a:r>
            <a:r>
              <a:rPr lang="en-US" dirty="0"/>
              <a:t>(odd) { background-color: #D9F0FF; }</a:t>
            </a:r>
          </a:p>
          <a:p>
            <a:pPr lvl="1"/>
            <a:r>
              <a:rPr lang="en-US" dirty="0" err="1"/>
              <a:t>tr:nth-child</a:t>
            </a:r>
            <a:r>
              <a:rPr lang="en-US" dirty="0"/>
              <a:t>(even) { background-color: #FFFFFF; }</a:t>
            </a:r>
          </a:p>
        </p:txBody>
      </p:sp>
    </p:spTree>
    <p:extLst>
      <p:ext uri="{BB962C8B-B14F-4D97-AF65-F5344CB8AC3E}">
        <p14:creationId xmlns:p14="http://schemas.microsoft.com/office/powerpoint/2010/main" val="3871985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C2B9DD-C013-E77C-F882-E54CB5886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Pseudoklasa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nth-child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16C8B9D-C47B-A20E-984B-BB080BD1C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Za pomocą selektora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nth-child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l-PL" dirty="0"/>
              <a:t> można wybrać na przykład co trzeci element dziecko ze zbioru, zaczynając od drugiego (co trzecią komórkę w wierszu tabeli (element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td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dirty="0"/>
              <a:t>), zaczynając od drugiej. </a:t>
            </a:r>
          </a:p>
          <a:p>
            <a:pPr lvl="0"/>
            <a:endParaRPr lang="pl-PL" dirty="0"/>
          </a:p>
          <a:p>
            <a:pPr lvl="1"/>
            <a:r>
              <a:rPr lang="en-US" dirty="0" err="1"/>
              <a:t>tr</a:t>
            </a:r>
            <a:r>
              <a:rPr lang="en-US" dirty="0"/>
              <a:t> </a:t>
            </a:r>
            <a:r>
              <a:rPr lang="en-US" dirty="0" err="1"/>
              <a:t>td:nth-child</a:t>
            </a:r>
            <a:r>
              <a:rPr lang="en-US" dirty="0"/>
              <a:t>(3n+2) { background-color:#900; }</a:t>
            </a:r>
          </a:p>
          <a:p>
            <a:pPr lvl="0"/>
            <a:endParaRPr lang="pl-PL" sz="1800" dirty="0"/>
          </a:p>
          <a:p>
            <a:pPr lvl="0"/>
            <a:r>
              <a:rPr lang="pl-PL" sz="1800" dirty="0"/>
              <a:t>Liczba znajdująca się przed literą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pl-PL" sz="1800" dirty="0"/>
              <a:t> (w tym przykładzie 3) oznacza, który element dziecko nas interesuje. Zatem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3n</a:t>
            </a:r>
            <a:r>
              <a:rPr lang="pl-PL" sz="1800" dirty="0"/>
              <a:t> oznacza co trzeci element.</a:t>
            </a:r>
          </a:p>
          <a:p>
            <a:pPr lvl="0"/>
            <a:r>
              <a:rPr lang="pl-PL" sz="1800" dirty="0"/>
              <a:t>Natomiast po znaku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pl-PL" sz="1800" dirty="0"/>
              <a:t> (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+2</a:t>
            </a:r>
            <a:r>
              <a:rPr lang="pl-PL" sz="1800" dirty="0"/>
              <a:t> w tym przykładzie) wpisuje się numer startowy odliczania, a więc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+2</a:t>
            </a:r>
            <a:r>
              <a:rPr lang="pl-PL" sz="1800" dirty="0"/>
              <a:t> oznacza, że chcemy zacząć liczenie od drugiego elementu.</a:t>
            </a:r>
          </a:p>
          <a:p>
            <a:pPr lvl="0"/>
            <a:endParaRPr lang="pl-PL" sz="1800" dirty="0"/>
          </a:p>
          <a:p>
            <a:pPr lvl="0"/>
            <a:r>
              <a:rPr lang="pl-PL" sz="1800" dirty="0"/>
              <a:t>Selektor </a:t>
            </a:r>
            <a:r>
              <a:rPr lang="pl-PL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nth-child</a:t>
            </a:r>
            <a:r>
              <a:rPr lang="pl-PL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(5n+4)</a:t>
            </a:r>
            <a:r>
              <a:rPr lang="pl-PL" sz="1800" dirty="0"/>
              <a:t> wybiera co piąty element dziecko, zaczynając od czwartego.</a:t>
            </a:r>
          </a:p>
        </p:txBody>
      </p:sp>
    </p:spTree>
    <p:extLst>
      <p:ext uri="{BB962C8B-B14F-4D97-AF65-F5344CB8AC3E}">
        <p14:creationId xmlns:p14="http://schemas.microsoft.com/office/powerpoint/2010/main" val="1660647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A8AF2B-778B-418E-F1F3-411F36C2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Selektory dziecka z uwzględnieniem typu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D8CDDD8-3C88-2355-57FC-5BE326AE9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W CSS3 dodano selektor, </a:t>
            </a:r>
            <a:br>
              <a:rPr lang="pl-PL" dirty="0"/>
            </a:br>
            <a:r>
              <a:rPr lang="pl-PL" dirty="0"/>
              <a:t>który działa podobnie do opisanych wcześniej selektorów dziecka, </a:t>
            </a:r>
            <a:br>
              <a:rPr lang="pl-PL" dirty="0"/>
            </a:br>
            <a:endParaRPr lang="pl-PL" dirty="0"/>
          </a:p>
          <a:p>
            <a:pPr lvl="0"/>
            <a:r>
              <a:rPr lang="pl-PL" dirty="0"/>
              <a:t>ale dotyczy elementów konkretnego typu.</a:t>
            </a:r>
          </a:p>
        </p:txBody>
      </p:sp>
    </p:spTree>
    <p:extLst>
      <p:ext uri="{BB962C8B-B14F-4D97-AF65-F5344CB8AC3E}">
        <p14:creationId xmlns:p14="http://schemas.microsoft.com/office/powerpoint/2010/main" val="7433126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42EFB9-0BA9-03D5-8EB4-2A7DE5D85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Pseudoklasa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-of-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DB0F4AB-7B70-ABE7-94A0-A5ED1D22E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 err="1"/>
              <a:t>Pseudoklasa</a:t>
            </a:r>
            <a:r>
              <a:rPr lang="pl-PL" dirty="0"/>
              <a:t>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-of-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pl-PL" dirty="0"/>
              <a:t> działa podobnie jak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first-child</a:t>
            </a:r>
            <a:r>
              <a:rPr lang="pl-PL" dirty="0"/>
              <a:t>, ale odnosi się do elementu dziecka określonego typu. Panel boczny jest przypisany do klasy </a:t>
            </a:r>
            <a:r>
              <a:rPr lang="pl-PL" dirty="0" err="1"/>
              <a:t>sidebar</a:t>
            </a:r>
            <a:r>
              <a:rPr lang="pl-PL" dirty="0"/>
              <a:t>. Aby sformatować pierwszy akapit w tym panelu, należy użyć poniższego selektora: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.</a:t>
            </a:r>
            <a:r>
              <a:rPr lang="pl-PL" dirty="0" err="1"/>
              <a:t>sidebar</a:t>
            </a:r>
            <a:r>
              <a:rPr lang="pl-PL" dirty="0"/>
              <a:t> p:first-of-type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Nazwę interesującego nas elementu podajemy przed </a:t>
            </a:r>
            <a:r>
              <a:rPr lang="pl-PL" sz="1800" dirty="0" err="1"/>
              <a:t>pseudoelementem</a:t>
            </a:r>
            <a:r>
              <a:rPr lang="pl-PL" sz="1800" dirty="0"/>
              <a:t>:</a:t>
            </a:r>
          </a:p>
          <a:p>
            <a:pPr lvl="0"/>
            <a:r>
              <a:rPr lang="pl-PL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p:first-of-type</a:t>
            </a:r>
            <a:r>
              <a:rPr lang="pl-PL" sz="1800" dirty="0"/>
              <a:t> — tu odnosimy się do elementu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4600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CB5B0D-5D21-AB5F-6F6E-838A41DA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Pseudoklasa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-of-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FCA236A-0CA1-119E-D1D1-599E5BCC0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Ta </a:t>
            </a:r>
            <a:r>
              <a:rPr lang="pl-PL" dirty="0" err="1"/>
              <a:t>pseudoklasa</a:t>
            </a:r>
            <a:r>
              <a:rPr lang="pl-PL" dirty="0"/>
              <a:t> działa podobnie jak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last-child</a:t>
            </a:r>
            <a:r>
              <a:rPr lang="pl-PL" dirty="0"/>
              <a:t>, ale odnosi się do ostatniego elementu określonego typu.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Żeby sformatować ostatni akapit w pasku bocznym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  <a:r>
              <a:rPr lang="pl-PL" dirty="0"/>
              <a:t>, nie mając pewności, czy za tym akapitem nie będzie żadnych innych elementów (np. listy wypunktowanej, nagłówka albo obrazu), należy użyć poniższego selektora: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div p:last-of-type</a:t>
            </a:r>
          </a:p>
        </p:txBody>
      </p:sp>
    </p:spTree>
    <p:extLst>
      <p:ext uri="{BB962C8B-B14F-4D97-AF65-F5344CB8AC3E}">
        <p14:creationId xmlns:p14="http://schemas.microsoft.com/office/powerpoint/2010/main" val="10935444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120789-092E-CAFE-9DEE-A2964F68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Pseudoklasa</a:t>
            </a:r>
            <a:r>
              <a:rPr lang="pl-PL" dirty="0"/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nth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-of-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4C1D487-539D-A99A-1E65-6C7DE504D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Ta </a:t>
            </a:r>
            <a:r>
              <a:rPr lang="pl-PL" dirty="0" err="1"/>
              <a:t>pseudoklasa</a:t>
            </a:r>
            <a:r>
              <a:rPr lang="pl-PL" dirty="0"/>
              <a:t> działa podobnie do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nth-child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l-PL" dirty="0"/>
              <a:t>, ale odnosi się do naprzemiennych elementów dzieci określonego typu. </a:t>
            </a:r>
          </a:p>
          <a:p>
            <a:pPr lvl="0"/>
            <a:r>
              <a:rPr lang="pl-PL" dirty="0"/>
              <a:t>Może się przydać, gdy na stronie znajdują się duże akapity zawierające obrazy. </a:t>
            </a:r>
          </a:p>
          <a:p>
            <a:pPr lvl="0"/>
            <a:r>
              <a:rPr lang="pl-PL" sz="1800" dirty="0"/>
              <a:t>Element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 jest </a:t>
            </a:r>
            <a:r>
              <a:rPr lang="pl-PL" sz="1800" dirty="0" err="1"/>
              <a:t>śródliniowy</a:t>
            </a:r>
            <a:r>
              <a:rPr lang="pl-PL" sz="1800" dirty="0"/>
              <a:t> (</a:t>
            </a:r>
            <a:r>
              <a:rPr lang="pl-P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inline</a:t>
            </a:r>
            <a:r>
              <a:rPr lang="pl-PL" sz="1800" dirty="0"/>
              <a:t>), a więc może być zagnieżdżany w akapicie w dowolnej liczbie. Żeby zdjęcia w akapitach były naprzemiennie przesunięte do lewej lub prawej krawędzi można użyć poniższych selektorów:</a:t>
            </a:r>
          </a:p>
          <a:p>
            <a:pPr lvl="0"/>
            <a:endParaRPr lang="pl-PL" sz="1800" dirty="0"/>
          </a:p>
          <a:p>
            <a:pPr lvl="1"/>
            <a:r>
              <a:rPr lang="en-US" dirty="0" err="1"/>
              <a:t>img:nth-of-type</a:t>
            </a:r>
            <a:r>
              <a:rPr lang="en-US" dirty="0"/>
              <a:t>(odd) { float: left; }</a:t>
            </a:r>
          </a:p>
          <a:p>
            <a:pPr lvl="1"/>
            <a:r>
              <a:rPr lang="en-US" dirty="0" err="1"/>
              <a:t>img:nth-of-type</a:t>
            </a:r>
            <a:r>
              <a:rPr lang="en-US" dirty="0"/>
              <a:t>(even) { float: right; }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Dostępne są takie same słowa kluczowe (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</a:t>
            </a:r>
            <a:r>
              <a:rPr lang="pl-PL" dirty="0"/>
              <a:t> i 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</a:t>
            </a:r>
            <a:r>
              <a:rPr lang="pl-PL" dirty="0"/>
              <a:t>) oraz obowiązuje taka sama składnia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(2n+1)</a:t>
            </a:r>
            <a:r>
              <a:rPr lang="pl-PL" dirty="0"/>
              <a:t> jak w przypadku selektora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l-PL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nth-child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09032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5AAB853B-7EDD-CF0E-B9C2-4F7F301F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11069719" cy="1080938"/>
          </a:xfrm>
        </p:spPr>
        <p:txBody>
          <a:bodyPr/>
          <a:lstStyle/>
          <a:p>
            <a:r>
              <a:rPr lang="pl-PL" dirty="0"/>
              <a:t>Selektor brata</a:t>
            </a:r>
          </a:p>
        </p:txBody>
      </p:sp>
      <p:sp>
        <p:nvSpPr>
          <p:cNvPr id="7" name="Symbol zastępczy tekstu 2">
            <a:extLst>
              <a:ext uri="{FF2B5EF4-FFF2-40B4-BE49-F238E27FC236}">
                <a16:creationId xmlns:a16="http://schemas.microsoft.com/office/drawing/2014/main" id="{1F10743D-B3CC-868A-497C-6D7F8C94FBA6}"/>
              </a:ext>
            </a:extLst>
          </p:cNvPr>
          <p:cNvSpPr txBox="1">
            <a:spLocks/>
          </p:cNvSpPr>
          <p:nvPr/>
        </p:nvSpPr>
        <p:spPr>
          <a:xfrm>
            <a:off x="680322" y="2336873"/>
            <a:ext cx="6167045" cy="3599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ourier New" panose="02070309020205020404" pitchFamily="49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/>
              <a:t>Znacznik znajdujący się bezpośrednio obok innego znacznika w HTML-u nazywa się jego bratem (ang. </a:t>
            </a:r>
            <a:r>
              <a:rPr lang="pl-PL" i="1"/>
              <a:t>adjacent sibling</a:t>
            </a:r>
            <a:r>
              <a:rPr lang="pl-PL"/>
              <a:t>). Na rysunku z znacznik </a:t>
            </a:r>
            <a:r>
              <a:rPr lang="pl-PL">
                <a:latin typeface="Courier New" panose="02070309020205020404" pitchFamily="49" charset="0"/>
                <a:cs typeface="Courier New" panose="02070309020205020404" pitchFamily="49" charset="0"/>
              </a:rPr>
              <a:t>&lt;h1&gt;</a:t>
            </a:r>
            <a:r>
              <a:rPr lang="pl-PL"/>
              <a:t> jest bratem znacznika </a:t>
            </a:r>
            <a:r>
              <a:rPr lang="pl-PL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/>
              <a:t>.</a:t>
            </a:r>
          </a:p>
          <a:p>
            <a:r>
              <a:rPr lang="pl-PL"/>
              <a:t>Selektor brata wykorzystuje do łączenia elementów symbol plusa (+).</a:t>
            </a:r>
          </a:p>
          <a:p>
            <a:r>
              <a:rPr lang="pl-PL" sz="1800"/>
              <a:t>Aby wybrać wszystkie akapity występujące po znaczniku </a:t>
            </a:r>
            <a:r>
              <a:rPr lang="pl-PL" sz="1800">
                <a:latin typeface="Courier New" panose="02070309020205020404" pitchFamily="49" charset="0"/>
                <a:cs typeface="Courier New" panose="02070309020205020404" pitchFamily="49" charset="0"/>
              </a:rPr>
              <a:t>&lt;h1&gt;</a:t>
            </a:r>
            <a:r>
              <a:rPr lang="pl-PL" sz="1800"/>
              <a:t>, należy użyć selektora </a:t>
            </a:r>
            <a:r>
              <a:rPr lang="pl-PL" sz="1800">
                <a:latin typeface="Courier New" panose="02070309020205020404" pitchFamily="49" charset="0"/>
                <a:cs typeface="Courier New" panose="02070309020205020404" pitchFamily="49" charset="0"/>
              </a:rPr>
              <a:t>h1+p</a:t>
            </a:r>
            <a:r>
              <a:rPr lang="pl-PL" sz="1800"/>
              <a:t>. Ostatni element w tym selektorze to ten, któremu zostanie nadany styl — ale tylko wtedy, gdy jego bratem jest znacznik </a:t>
            </a:r>
            <a:r>
              <a:rPr lang="pl-PL" sz="1800">
                <a:latin typeface="Courier New" panose="02070309020205020404" pitchFamily="49" charset="0"/>
                <a:cs typeface="Courier New" panose="02070309020205020404" pitchFamily="49" charset="0"/>
              </a:rPr>
              <a:t>&lt;h1&gt;</a:t>
            </a:r>
            <a:r>
              <a:rPr lang="pl-PL" sz="1800"/>
              <a:t>.</a:t>
            </a:r>
            <a:endParaRPr lang="pl-PL" sz="1800" dirty="0"/>
          </a:p>
        </p:txBody>
      </p:sp>
      <p:pic>
        <p:nvPicPr>
          <p:cNvPr id="8" name="Symbol zastępczy zawartości 4">
            <a:extLst>
              <a:ext uri="{FF2B5EF4-FFF2-40B4-BE49-F238E27FC236}">
                <a16:creationId xmlns:a16="http://schemas.microsoft.com/office/drawing/2014/main" id="{DB5CDFA4-57E5-25F5-8C57-CF0297281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516" y="2776586"/>
            <a:ext cx="2815915" cy="2719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28976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AB853B-7EDD-CF0E-B9C2-4F7F301F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Selektor brata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F10743D-B3CC-868A-497C-6D7F8C94F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Jest jeszcze jeden selektor brata — </a:t>
            </a:r>
            <a:r>
              <a:rPr lang="pl-PL" b="1" dirty="0">
                <a:solidFill>
                  <a:schemeClr val="bg1"/>
                </a:solidFill>
              </a:rPr>
              <a:t>ogólny kombinacyjny selektor brata</a:t>
            </a:r>
            <a:r>
              <a:rPr lang="pl-PL" dirty="0"/>
              <a:t>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Ma on postać tyldy (~) i oznacza: „Wybierz wszystkich braci tego typu”.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Podczas gdy selektor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h1+p</a:t>
            </a:r>
            <a:r>
              <a:rPr lang="pl-PL" dirty="0"/>
              <a:t> wybiera jeden element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 znajdujący się bezpośrednio za elementem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</a:t>
            </a:r>
            <a:r>
              <a:rPr lang="pl-PL" dirty="0"/>
              <a:t>, selektor </a:t>
            </a: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 ~ p</a:t>
            </a:r>
            <a:r>
              <a:rPr lang="pl-PL" dirty="0"/>
              <a:t> wybierze wszystkie elementy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pl-PL" dirty="0"/>
              <a:t> znajdujące się za elementem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</a:t>
            </a:r>
            <a:r>
              <a:rPr lang="pl-PL" dirty="0"/>
              <a:t> na tym samym poziomie drzewa dokumentu.</a:t>
            </a:r>
          </a:p>
        </p:txBody>
      </p:sp>
    </p:spTree>
    <p:extLst>
      <p:ext uri="{BB962C8B-B14F-4D97-AF65-F5344CB8AC3E}">
        <p14:creationId xmlns:p14="http://schemas.microsoft.com/office/powerpoint/2010/main" val="13124393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280FA0-3D29-FE18-6519-2ABF1C0D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Dziedziczenie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7C0DE49-7996-2669-C4A3-340A6AC31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Dziedziczenie to proces, w którym właściwości CSS jednego znacznika przechodzą na inne zagnieżdżone w nim znaczniki.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Przykładowo znacznik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 zawsze znajduje się w znaczniku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dirty="0"/>
              <a:t>, a więc właściwości zastosowane do tego drugiego są dziedziczone przez pierwszy. Dla znacznika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dirty="0"/>
              <a:t> utworzono styl CSS, który ustawia kolor na ciemnoczerwony. Znaczniki będące potomkami znacznika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dirty="0"/>
              <a:t> — czyli te, które znajdują się wewnątrz niego — odziedziczą tę właściwość.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Znaczy to, że tekst wszystkich tych znaczników —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</a:t>
            </a:r>
            <a:r>
              <a:rPr lang="pl-PL" sz="1800" dirty="0"/>
              <a:t>,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&lt;h2&gt;</a:t>
            </a:r>
            <a:r>
              <a:rPr lang="pl-PL" sz="1800" dirty="0"/>
              <a:t>,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sz="1800" dirty="0"/>
              <a:t> itd. — również będzie miał kolor ciemnoczerwony.</a:t>
            </a:r>
          </a:p>
        </p:txBody>
      </p:sp>
    </p:spTree>
    <p:extLst>
      <p:ext uri="{BB962C8B-B14F-4D97-AF65-F5344CB8AC3E}">
        <p14:creationId xmlns:p14="http://schemas.microsoft.com/office/powerpoint/2010/main" val="4626013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280FA0-3D29-FE18-6519-2ABF1C0D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Dziedziczenie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7C0DE49-7996-2669-C4A3-340A6AC31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Dziedziczenie działa także na dalsze generacje. Jeśli w znaczniku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 znajdzie się znacznik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&lt;em&gt;</a:t>
            </a:r>
            <a:r>
              <a:rPr lang="pl-PL" dirty="0"/>
              <a:t> albo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dirty="0"/>
              <a:t>, to one również odziedziczą właściwości stylów zastosowane do znacznika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dirty="0"/>
              <a:t>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Dziedziczenie dotyczy nie tylko stylów znaczników.</a:t>
            </a:r>
          </a:p>
          <a:p>
            <a:pPr lvl="0"/>
            <a:r>
              <a:rPr lang="pl-PL" dirty="0"/>
              <a:t>Działa ze wszystkimi rodzajami stylów. 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Jeśli więc do znacznika zastosujemy styl klasy, to wszystkie znaczniki znajdujące się w nim odziedziczą te właściwości. To samo dotyczy identyfikatorów, selektorów potomka i innych rodzajów stylów.</a:t>
            </a:r>
          </a:p>
        </p:txBody>
      </p:sp>
    </p:spTree>
    <p:extLst>
      <p:ext uri="{BB962C8B-B14F-4D97-AF65-F5344CB8AC3E}">
        <p14:creationId xmlns:p14="http://schemas.microsoft.com/office/powerpoint/2010/main" val="35445938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011605-BFF6-3F82-6049-F0AF4AD1E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Granice dziedziczenia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CC9A499-5B3D-5874-1BA2-A4611F8DF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Ogólna reguła jest taka, że dziedziczeniu </a:t>
            </a:r>
            <a:r>
              <a:rPr lang="pl-PL" b="1" dirty="0">
                <a:solidFill>
                  <a:schemeClr val="bg1"/>
                </a:solidFill>
              </a:rPr>
              <a:t>nie podlegają</a:t>
            </a:r>
            <a:r>
              <a:rPr lang="pl-PL" dirty="0"/>
              <a:t> właściwości dotyczące </a:t>
            </a:r>
            <a:r>
              <a:rPr lang="pl-PL" b="1" dirty="0">
                <a:solidFill>
                  <a:schemeClr val="bg1"/>
                </a:solidFill>
              </a:rPr>
              <a:t>położenia elementów na stronie, marginesów, kolorów tła i obramowania</a:t>
            </a:r>
            <a:r>
              <a:rPr lang="pl-PL" dirty="0"/>
              <a:t>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Jeśli wystąpi konflikt stylów, to górę bierze ten </a:t>
            </a:r>
            <a:r>
              <a:rPr lang="pl-PL" b="1" dirty="0">
                <a:solidFill>
                  <a:schemeClr val="bg1"/>
                </a:solidFill>
              </a:rPr>
              <a:t>bardziej precyzyjny</a:t>
            </a:r>
            <a:r>
              <a:rPr lang="pl-PL" dirty="0"/>
              <a:t>. 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Innymi słowy, jeśli elementowi takiemu jak lista nienumerowana nadany zostanie określony rozmiar pisma, a właściwości te wchodzą w konflikt z jakimiś dziedziczonymi właściwościami (jak np. rozmiar pisma ustawiony dla znacznika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sz="1800" dirty="0"/>
              <a:t>), to przeglądarka zastosuje wartość przeznaczoną bezpośrednio dla znacznika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&lt;ul&gt;</a:t>
            </a:r>
            <a:r>
              <a:rPr lang="pl-PL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0923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768750-B2D0-A69D-1907-C511878B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Zarządzanie wieloma stylami — kaskada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4A5884A-ACF1-BC19-FCEF-F98D1E871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Znacznik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dirty="0"/>
              <a:t> może przekazywać właściwości do akapitów, które z kolei przekazują swoje własne właściwości do odnośników w nich zawartych. Odnośnik może dziedziczyć właściwości CSS zarówno po znaczniku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dirty="0"/>
              <a:t>, jak i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, w wyniku czego powstaje coś w rodzaju „znacznika-Frankensteina”, składającego się z różnych stylów CSS.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Zdarzają się konflikty stylów, gdy w kilku stylach odnoszących się do jednego elementu na stronie zdefiniowana jest taka sama właściwość (np. styl znacznika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sz="1800" dirty="0"/>
              <a:t> w zewnętrznym i wewnętrznym arkuszu stylów).</a:t>
            </a:r>
          </a:p>
        </p:txBody>
      </p:sp>
    </p:spTree>
    <p:extLst>
      <p:ext uri="{BB962C8B-B14F-4D97-AF65-F5344CB8AC3E}">
        <p14:creationId xmlns:p14="http://schemas.microsoft.com/office/powerpoint/2010/main" val="630104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768750-B2D0-A69D-1907-C511878B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Zarządzanie wieloma stylami — kaskada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4A5884A-ACF1-BC19-FCEF-F98D1E871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W takich sytuacjach rezultat może być dość niespodziewany, jak na przykład tekst w kolorze jaskrawoniebieskim zamiast spodziewanego czerwonego, określonego w stylu klasy.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Tym wszystkim zarządza podstawowy mechanizm CSS o nazwie </a:t>
            </a:r>
            <a:r>
              <a:rPr lang="pl-PL" b="1" dirty="0">
                <a:solidFill>
                  <a:schemeClr val="bg1"/>
                </a:solidFill>
              </a:rPr>
              <a:t>kaskada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/>
              <a:t>(ang. </a:t>
            </a:r>
            <a:r>
              <a:rPr lang="pl-PL" i="1" dirty="0" err="1"/>
              <a:t>cascade</a:t>
            </a:r>
            <a:r>
              <a:rPr lang="pl-PL" dirty="0"/>
              <a:t>). Określa on sposób interakcji pomiędzy stylami oraz to, który styl zostanie zastosowany w razie konfliktu.</a:t>
            </a:r>
          </a:p>
        </p:txBody>
      </p:sp>
    </p:spTree>
    <p:extLst>
      <p:ext uri="{BB962C8B-B14F-4D97-AF65-F5344CB8AC3E}">
        <p14:creationId xmlns:p14="http://schemas.microsoft.com/office/powerpoint/2010/main" val="34188514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3536BFF-DEC3-CACC-C3FB-97DE9A060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Kaskadowość stylów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917C1FF-5FCE-1097-E6CB-5F210465D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b="1" dirty="0">
                <a:solidFill>
                  <a:schemeClr val="bg1"/>
                </a:solidFill>
              </a:rPr>
              <a:t>Kaskada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/>
              <a:t>to zbiór zasad określających, które właściwości stylów zostaną zastosowane do danego elementu. </a:t>
            </a:r>
          </a:p>
          <a:p>
            <a:pPr lvl="0"/>
            <a:r>
              <a:rPr lang="pl-PL" dirty="0"/>
              <a:t>Określa ona, co przeglądarka powinna robić w sytuacjach, gdy do jednego znacznika odnosi się kilka stylów oraz gdy wystąpią konflikty.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Konflikty stylów są możliwe w dwóch sytuacjach: przy </a:t>
            </a:r>
            <a:r>
              <a:rPr lang="pl-PL" sz="1800" b="1" dirty="0">
                <a:solidFill>
                  <a:schemeClr val="bg1"/>
                </a:solidFill>
              </a:rPr>
              <a:t>dziedziczeniu</a:t>
            </a:r>
            <a:r>
              <a:rPr lang="pl-PL" sz="1800" dirty="0">
                <a:solidFill>
                  <a:schemeClr val="bg1"/>
                </a:solidFill>
              </a:rPr>
              <a:t> </a:t>
            </a:r>
            <a:r>
              <a:rPr lang="pl-PL" sz="1800" dirty="0"/>
              <a:t>— gdy jedna właściwość jest dziedziczona od kilku przodków, oraz gdy jeden lub więcej stylów odnosi się do tego samego elementu (przykładem takiej sytuacji jest zastosowanie do akapitu klasy i selektora elementu p, przez co do jednego elementu odnoszą się dwie reguły CSS).</a:t>
            </a:r>
          </a:p>
        </p:txBody>
      </p:sp>
    </p:spTree>
    <p:extLst>
      <p:ext uri="{BB962C8B-B14F-4D97-AF65-F5344CB8AC3E}">
        <p14:creationId xmlns:p14="http://schemas.microsoft.com/office/powerpoint/2010/main" val="3622390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89E496-D3CA-4D83-DF25-9AA89EBD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Kumulowanie się stylów dziedziczonych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7361BE3-D71A-7B6A-75D4-E8C87F416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Jeden znacznik może dziedziczyć właściwości po wszystkich przodkach — na przykład odnośnik dziedziczący właściwości tekstu po swoim rodzicu, znaczniku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 — ustalenie tego, dlaczego dany znacznik ma określone formatowanie, może być nie lada wyzwaniem.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Wyobraźmy sobie właściwości pisma zastosowane do znacznika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sz="1800" dirty="0"/>
              <a:t>, rozmiar pisma zastosowany do znacznika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sz="1800" dirty="0"/>
              <a:t> i kolor zastosowany do znacznika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&lt;a&gt;</a:t>
            </a:r>
            <a:r>
              <a:rPr lang="pl-PL" sz="1800" dirty="0"/>
              <a:t>.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Każdy znacznik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&lt;a&gt;</a:t>
            </a:r>
            <a:r>
              <a:rPr lang="pl-PL" dirty="0"/>
              <a:t> znajdujący się w akapicie odziedziczyłby krój pisma po znaczniku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dirty="0"/>
              <a:t> i rozmiar po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85144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89E496-D3CA-4D83-DF25-9AA89EBD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Kumulowanie się stylów dziedziczonych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7361BE3-D71A-7B6A-75D4-E8C87F416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Dziedziczone style w połączeniu tworzą jeden.</a:t>
            </a:r>
          </a:p>
          <a:p>
            <a:pPr lvl="0"/>
            <a:r>
              <a:rPr lang="pl-PL" dirty="0"/>
              <a:t>Załóżmy, że strona została sformatowana przy użyciu trzech stylów: po jednym dla znaczników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dirty="0"/>
              <a:t>,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 i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dirty="0"/>
              <a:t>. Kod CSS wygląda tak:</a:t>
            </a:r>
          </a:p>
          <a:p>
            <a:pPr lvl="0"/>
            <a:endParaRPr lang="pl-PL" dirty="0"/>
          </a:p>
          <a:p>
            <a:pPr lvl="1"/>
            <a:r>
              <a:rPr lang="pl-PL" b="1" dirty="0">
                <a:solidFill>
                  <a:schemeClr val="accent4"/>
                </a:solidFill>
              </a:rPr>
              <a:t>body {</a:t>
            </a:r>
            <a:r>
              <a:rPr lang="pl-PL" b="1" dirty="0" err="1">
                <a:solidFill>
                  <a:schemeClr val="accent4"/>
                </a:solidFill>
              </a:rPr>
              <a:t>font</a:t>
            </a:r>
            <a:r>
              <a:rPr lang="pl-PL" b="1" dirty="0">
                <a:solidFill>
                  <a:schemeClr val="accent4"/>
                </a:solidFill>
              </a:rPr>
              <a:t>-family: Verdana, Arial, </a:t>
            </a:r>
            <a:r>
              <a:rPr lang="pl-PL" b="1" dirty="0" err="1">
                <a:solidFill>
                  <a:schemeClr val="accent4"/>
                </a:solidFill>
              </a:rPr>
              <a:t>Helvetica</a:t>
            </a:r>
            <a:r>
              <a:rPr lang="pl-PL" b="1" dirty="0">
                <a:solidFill>
                  <a:schemeClr val="accent4"/>
                </a:solidFill>
              </a:rPr>
              <a:t>, </a:t>
            </a:r>
            <a:r>
              <a:rPr lang="pl-PL" b="1" dirty="0" err="1">
                <a:solidFill>
                  <a:schemeClr val="accent4"/>
                </a:solidFill>
              </a:rPr>
              <a:t>sans-serif</a:t>
            </a:r>
            <a:r>
              <a:rPr lang="pl-PL" b="1" dirty="0">
                <a:solidFill>
                  <a:schemeClr val="accent4"/>
                </a:solidFill>
              </a:rPr>
              <a:t>;}</a:t>
            </a:r>
          </a:p>
          <a:p>
            <a:pPr lvl="1"/>
            <a:r>
              <a:rPr lang="pl-PL" b="1" dirty="0">
                <a:solidFill>
                  <a:schemeClr val="accent5"/>
                </a:solidFill>
              </a:rPr>
              <a:t>p {</a:t>
            </a:r>
            <a:r>
              <a:rPr lang="pl-PL" b="1" dirty="0" err="1">
                <a:solidFill>
                  <a:schemeClr val="accent5"/>
                </a:solidFill>
              </a:rPr>
              <a:t>color</a:t>
            </a:r>
            <a:r>
              <a:rPr lang="pl-PL" b="1" dirty="0">
                <a:solidFill>
                  <a:schemeClr val="accent5"/>
                </a:solidFill>
              </a:rPr>
              <a:t>: #F30;}</a:t>
            </a:r>
          </a:p>
          <a:p>
            <a:pPr lvl="1"/>
            <a:r>
              <a:rPr lang="pl-PL" b="1" dirty="0" err="1">
                <a:solidFill>
                  <a:srgbClr val="92D050"/>
                </a:solidFill>
              </a:rPr>
              <a:t>strong</a:t>
            </a:r>
            <a:r>
              <a:rPr lang="pl-PL" b="1" dirty="0">
                <a:solidFill>
                  <a:srgbClr val="92D050"/>
                </a:solidFill>
              </a:rPr>
              <a:t> {</a:t>
            </a:r>
            <a:r>
              <a:rPr lang="pl-PL" b="1" dirty="0" err="1">
                <a:solidFill>
                  <a:srgbClr val="92D050"/>
                </a:solidFill>
              </a:rPr>
              <a:t>font-size</a:t>
            </a:r>
            <a:r>
              <a:rPr lang="pl-PL" b="1" dirty="0">
                <a:solidFill>
                  <a:srgbClr val="92D050"/>
                </a:solidFill>
              </a:rPr>
              <a:t>: 24px;}</a:t>
            </a:r>
          </a:p>
          <a:p>
            <a:pPr lvl="0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73509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89E496-D3CA-4D83-DF25-9AA89EBD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Kumulowanie się stylów dziedziczonych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7361BE3-D71A-7B6A-75D4-E8C87F416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Znacznik &lt;</a:t>
            </a:r>
            <a:r>
              <a:rPr lang="pl-PL" dirty="0" err="1"/>
              <a:t>strong</a:t>
            </a:r>
            <a:r>
              <a:rPr lang="pl-PL" dirty="0"/>
              <a:t>&gt; jest zagnieżdżony w akapicie, który znajduje się w znaczniku &lt;body&gt;.</a:t>
            </a:r>
          </a:p>
          <a:p>
            <a:pPr lvl="0"/>
            <a:r>
              <a:rPr lang="pl-PL" sz="1800" dirty="0"/>
              <a:t>Dziedziczy on po obu swoich przodkach, a więc przejmuje właściwość </a:t>
            </a:r>
            <a:r>
              <a:rPr lang="pl-PL" sz="1800" b="1" dirty="0" err="1">
                <a:solidFill>
                  <a:schemeClr val="accent4"/>
                </a:solidFill>
              </a:rPr>
              <a:t>font</a:t>
            </a:r>
            <a:r>
              <a:rPr lang="pl-PL" sz="1800" b="1" dirty="0">
                <a:solidFill>
                  <a:schemeClr val="accent4"/>
                </a:solidFill>
              </a:rPr>
              <a:t>-family</a:t>
            </a:r>
            <a:r>
              <a:rPr lang="pl-PL" sz="1800" dirty="0"/>
              <a:t> po znaczniku </a:t>
            </a:r>
            <a:r>
              <a:rPr lang="pl-PL" sz="1800" b="1" dirty="0">
                <a:solidFill>
                  <a:schemeClr val="accent4"/>
                </a:solidFill>
              </a:rPr>
              <a:t>&lt;body&gt;</a:t>
            </a:r>
            <a:r>
              <a:rPr lang="pl-PL" sz="1800" dirty="0"/>
              <a:t> </a:t>
            </a:r>
            <a:br>
              <a:rPr lang="pl-PL" sz="1800" dirty="0"/>
            </a:br>
            <a:r>
              <a:rPr lang="pl-PL" sz="1800" dirty="0"/>
              <a:t>i </a:t>
            </a:r>
            <a:r>
              <a:rPr lang="pl-PL" sz="1800" b="1" dirty="0" err="1">
                <a:solidFill>
                  <a:schemeClr val="accent5"/>
                </a:solidFill>
              </a:rPr>
              <a:t>color</a:t>
            </a:r>
            <a:r>
              <a:rPr lang="pl-PL" sz="1800" dirty="0">
                <a:solidFill>
                  <a:schemeClr val="accent5"/>
                </a:solidFill>
              </a:rPr>
              <a:t> </a:t>
            </a:r>
            <a:r>
              <a:rPr lang="pl-PL" sz="1800" dirty="0"/>
              <a:t>po </a:t>
            </a:r>
            <a:r>
              <a:rPr lang="pl-PL" sz="18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sz="1800" dirty="0"/>
              <a:t>.</a:t>
            </a:r>
          </a:p>
          <a:p>
            <a:pPr lvl="0"/>
            <a:r>
              <a:rPr lang="pl-PL" sz="1800" dirty="0"/>
              <a:t>Ponadto do znacznika tego zastosowany został bezpośrednio styl </a:t>
            </a:r>
            <a:r>
              <a:rPr lang="pl-PL" sz="1800" b="1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font-size</a:t>
            </a:r>
            <a:r>
              <a:rPr lang="pl-PL" sz="18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24px</a:t>
            </a:r>
            <a:r>
              <a:rPr lang="pl-PL" sz="1800" dirty="0"/>
              <a:t>. </a:t>
            </a:r>
            <a:br>
              <a:rPr lang="pl-PL" sz="1800" dirty="0"/>
            </a:br>
            <a:r>
              <a:rPr lang="pl-PL" sz="1800" dirty="0"/>
              <a:t>Ostateczny wygląd znacznika 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 został zdeterminowany przez połączenie wszystkich tych trzech stylów. </a:t>
            </a:r>
          </a:p>
          <a:p>
            <a:pPr lvl="0"/>
            <a:r>
              <a:rPr lang="pl-PL" sz="1800" dirty="0"/>
              <a:t>Znacznik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 będzie wyglądać tak:</a:t>
            </a:r>
          </a:p>
          <a:p>
            <a:pPr lvl="1"/>
            <a:r>
              <a:rPr lang="pl-PL" dirty="0" err="1"/>
              <a:t>strong</a:t>
            </a:r>
            <a:r>
              <a:rPr lang="pl-PL" dirty="0"/>
              <a:t> {</a:t>
            </a:r>
          </a:p>
          <a:p>
            <a:pPr lvl="1"/>
            <a:r>
              <a:rPr lang="pl-PL" b="1" dirty="0">
                <a:solidFill>
                  <a:schemeClr val="accent4"/>
                </a:solidFill>
              </a:rPr>
              <a:t>  </a:t>
            </a:r>
            <a:r>
              <a:rPr lang="pl-PL" b="1" dirty="0" err="1">
                <a:solidFill>
                  <a:schemeClr val="accent4"/>
                </a:solidFill>
              </a:rPr>
              <a:t>font</a:t>
            </a:r>
            <a:r>
              <a:rPr lang="pl-PL" b="1" dirty="0">
                <a:solidFill>
                  <a:schemeClr val="accent4"/>
                </a:solidFill>
              </a:rPr>
              <a:t>-family: Verdana, Arial, </a:t>
            </a:r>
            <a:r>
              <a:rPr lang="pl-PL" b="1" dirty="0" err="1">
                <a:solidFill>
                  <a:schemeClr val="accent4"/>
                </a:solidFill>
              </a:rPr>
              <a:t>Helvetica</a:t>
            </a:r>
            <a:r>
              <a:rPr lang="pl-PL" b="1" dirty="0">
                <a:solidFill>
                  <a:schemeClr val="accent4"/>
                </a:solidFill>
              </a:rPr>
              <a:t>, </a:t>
            </a:r>
            <a:r>
              <a:rPr lang="pl-PL" b="1" dirty="0" err="1">
                <a:solidFill>
                  <a:schemeClr val="accent4"/>
                </a:solidFill>
              </a:rPr>
              <a:t>sans-serif</a:t>
            </a:r>
            <a:r>
              <a:rPr lang="pl-PL" b="1" dirty="0">
                <a:solidFill>
                  <a:schemeClr val="accent4"/>
                </a:solidFill>
              </a:rPr>
              <a:t>;</a:t>
            </a:r>
          </a:p>
          <a:p>
            <a:pPr lvl="1"/>
            <a:r>
              <a:rPr lang="pl-PL" b="1" dirty="0">
                <a:solidFill>
                  <a:schemeClr val="accent5"/>
                </a:solidFill>
              </a:rPr>
              <a:t>  </a:t>
            </a:r>
            <a:r>
              <a:rPr lang="pl-PL" b="1" dirty="0" err="1">
                <a:solidFill>
                  <a:schemeClr val="accent5"/>
                </a:solidFill>
              </a:rPr>
              <a:t>color</a:t>
            </a:r>
            <a:r>
              <a:rPr lang="pl-PL" b="1" dirty="0">
                <a:solidFill>
                  <a:schemeClr val="accent5"/>
                </a:solidFill>
              </a:rPr>
              <a:t>: #F30;</a:t>
            </a:r>
          </a:p>
          <a:p>
            <a:pPr lvl="1"/>
            <a:r>
              <a:rPr lang="pl-PL" b="1" dirty="0">
                <a:solidFill>
                  <a:srgbClr val="92D050"/>
                </a:solidFill>
              </a:rPr>
              <a:t>  </a:t>
            </a:r>
            <a:r>
              <a:rPr lang="pl-PL" b="1" dirty="0" err="1">
                <a:solidFill>
                  <a:srgbClr val="92D050"/>
                </a:solidFill>
              </a:rPr>
              <a:t>font-size</a:t>
            </a:r>
            <a:r>
              <a:rPr lang="pl-PL" b="1" dirty="0">
                <a:solidFill>
                  <a:srgbClr val="92D050"/>
                </a:solidFill>
              </a:rPr>
              <a:t>: 24px;</a:t>
            </a:r>
          </a:p>
          <a:p>
            <a:pPr lvl="1"/>
            <a:r>
              <a:rPr lang="pl-P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32720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1A5967-9401-5611-188B-A70662AE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Najbliższy przodek bierze górę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166A82-FC7E-6EAE-3881-AE0AF13C4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W powyższym przykładzie kilka odziedziczonych stylów połączyło się w jeden arkusz, nadając znacznikowi odpowiednie formatowanie.</a:t>
            </a:r>
          </a:p>
          <a:p>
            <a:pPr lvl="0"/>
            <a:r>
              <a:rPr lang="pl-PL" dirty="0"/>
              <a:t>Nie było żadnych konfliktów.</a:t>
            </a:r>
          </a:p>
          <a:p>
            <a:pPr lvl="0"/>
            <a:r>
              <a:rPr lang="pl-PL" dirty="0"/>
              <a:t>Ale co się stanie, gdy nastąpi konflikt właściwości CSS?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Przykładowo kolor tekstu w znaczniku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sz="1800" dirty="0"/>
              <a:t> ustawiliśmy na czerwony, a w akapitach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sz="1800" dirty="0"/>
              <a:t> na zielony.</a:t>
            </a:r>
          </a:p>
          <a:p>
            <a:pPr lvl="0"/>
            <a:r>
              <a:rPr lang="pl-PL" sz="1800" dirty="0"/>
              <a:t>W jednym z akapitów znajduje się znacznik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.</a:t>
            </a:r>
          </a:p>
          <a:p>
            <a:pPr lvl="0"/>
            <a:endParaRPr lang="pl-PL" sz="1800" dirty="0"/>
          </a:p>
          <a:p>
            <a:pPr lvl="0"/>
            <a:r>
              <a:rPr lang="pl-PL" sz="1800" dirty="0"/>
              <a:t>Który kolor zostanie zastosowany do tego znacznika? Akapitu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sz="1800" dirty="0"/>
              <a:t> czy elementu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sz="1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470710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1A5967-9401-5611-188B-A70662AE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Najbliższy przodek bierze górę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166A82-FC7E-6EAE-3881-AE0AF13C4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Akapit bierze górę. Przeglądarki stosują styl, najbliższy spornemu znacznikowi.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Nadrzędna zasada brzmi: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jeśli do znacznika nie zastosowano bezpośrednio żadnego stylu, to w przypadku konfliktu dziedziczonych właściwości pierwszeństwo ma styl najbliższego przodka.</a:t>
            </a:r>
          </a:p>
        </p:txBody>
      </p:sp>
    </p:spTree>
    <p:extLst>
      <p:ext uri="{BB962C8B-B14F-4D97-AF65-F5344CB8AC3E}">
        <p14:creationId xmlns:p14="http://schemas.microsoft.com/office/powerpoint/2010/main" val="7273239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1A5967-9401-5611-188B-A70662AE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Najbliższy przodek bierze górę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166A82-FC7E-6EAE-3881-AE0AF13C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7077792" cy="3599316"/>
          </a:xfrm>
        </p:spPr>
        <p:txBody>
          <a:bodyPr/>
          <a:lstStyle/>
          <a:p>
            <a:pPr lvl="0"/>
            <a:r>
              <a:rPr lang="pl-PL" dirty="0"/>
              <a:t>Rysunek obrazuje, sposób w jaki przeglądarki określają właściwości stosowane w przypadku konfliktu właściwości dziedziczonych:</a:t>
            </a:r>
          </a:p>
          <a:p>
            <a:pPr lvl="0"/>
            <a:r>
              <a:rPr lang="pl-PL" sz="1800" dirty="0"/>
              <a:t>znajdujący się w pierwszym akapicie znacznik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&lt;em&gt;</a:t>
            </a:r>
            <a:r>
              <a:rPr lang="pl-PL" sz="1800" dirty="0"/>
              <a:t> (1) dziedziczy krój pisma po znacznikach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l-PL" sz="1800" dirty="0"/>
              <a:t> i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sz="1800" dirty="0"/>
              <a:t>. Jednak, jako że dla każdego z nich określono inny krój pisma, w znaczniku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&lt;em&gt;</a:t>
            </a:r>
            <a:r>
              <a:rPr lang="pl-PL" sz="1800" dirty="0"/>
              <a:t> zostanie zastosowany taki sam krój, jak w jego najbliższym przodku, czyli znaczniku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sz="1800" dirty="0"/>
              <a:t>.</a:t>
            </a:r>
          </a:p>
          <a:p>
            <a:pPr lvl="0"/>
            <a:endParaRPr lang="pl-PL" sz="1800" dirty="0"/>
          </a:p>
          <a:p>
            <a:pPr lvl="0"/>
            <a:r>
              <a:rPr lang="pl-PL" sz="1800" dirty="0"/>
              <a:t>Jeśli styl odnosi się bezpośrednio do danego znacznika — dla znacznika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 został zdefiniowany styl 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-family</a:t>
            </a:r>
            <a:r>
              <a:rPr lang="pl-PL" sz="1800" dirty="0"/>
              <a:t> (2) — przeglądarki ignorują kolidujące z nim właściwości dziedziczone.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334" y="2712985"/>
            <a:ext cx="3919153" cy="327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358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E21129-C346-068F-F4B0-6B79B9DC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Górę bierze styl bezpośredni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5D01D96-33A4-59BE-1731-5D07BC1FE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Logicznym następstwem zasady „najbliższego przodka” jest to, że istnieje jeden styl, który zawsze króluje wśród innych stylów — styl przypisany bezpośrednio do danego znacznika.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Przypuśćmy, że kolor pisma został określony dla ciała dokumentu, akapitów i znacznika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.</a:t>
            </a:r>
          </a:p>
          <a:p>
            <a:pPr lvl="0"/>
            <a:r>
              <a:rPr lang="pl-PL" sz="1800" dirty="0"/>
              <a:t>Styl akapitu jest bardziej precyzyjny niż ciała dokumentu, ale styl znacznika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 jest bardziej precyzyjny od pozostałych dwóch. Formatuje on znaczniki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1800" dirty="0"/>
              <a:t>, przesłaniając wszystkie kolidujące ze sobą właściwości innych znaczników.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Właściwości stylu bezpośrednio przypisanego do określonego znacznika mają pierwszeństwo przed wszystkimi właściwościami dziedziczonymi.</a:t>
            </a:r>
          </a:p>
        </p:txBody>
      </p:sp>
    </p:spTree>
    <p:extLst>
      <p:ext uri="{BB962C8B-B14F-4D97-AF65-F5344CB8AC3E}">
        <p14:creationId xmlns:p14="http://schemas.microsoft.com/office/powerpoint/2010/main" val="24602157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20230C-F01B-376E-33F7-427D73F7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Jeden znacznik, wiele stylów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3058AFD-F85D-CC15-0506-8260FAA41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Możliwe jest też bezpośrednie zastosowanie wielu stylów do jednego znacznika.</a:t>
            </a:r>
          </a:p>
          <a:p>
            <a:pPr lvl="0"/>
            <a:r>
              <a:rPr lang="pl-PL" dirty="0"/>
              <a:t>Przykładowo mamy </a:t>
            </a:r>
            <a:r>
              <a:rPr lang="pl-PL" b="1" dirty="0">
                <a:solidFill>
                  <a:schemeClr val="bg1"/>
                </a:solidFill>
              </a:rPr>
              <a:t>zewnętrzny arkusz stylów</a:t>
            </a:r>
            <a:r>
              <a:rPr lang="pl-PL" dirty="0"/>
              <a:t> ze stylem znacznika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, który dołączyliśmy do strony zawierającej </a:t>
            </a:r>
            <a:r>
              <a:rPr lang="pl-PL" b="1" dirty="0">
                <a:solidFill>
                  <a:schemeClr val="bg1"/>
                </a:solidFill>
              </a:rPr>
              <a:t>wewnętrzny arkusz stylów</a:t>
            </a:r>
            <a:r>
              <a:rPr lang="pl-PL" dirty="0"/>
              <a:t>, również zawierający styl tego znacznika. Ponadto do znaczników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 na tej stronie zastosowana została jakaś klasa. </a:t>
            </a:r>
          </a:p>
          <a:p>
            <a:pPr lvl="0"/>
            <a:r>
              <a:rPr lang="pl-PL" dirty="0"/>
              <a:t>W rezultacie do tego jednego znacznika są przypisane aż trzy style.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Który styl lub które style powinna zatem zastosować przeglądarka?</a:t>
            </a:r>
          </a:p>
        </p:txBody>
      </p:sp>
    </p:spTree>
    <p:extLst>
      <p:ext uri="{BB962C8B-B14F-4D97-AF65-F5344CB8AC3E}">
        <p14:creationId xmlns:p14="http://schemas.microsoft.com/office/powerpoint/2010/main" val="32221960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20230C-F01B-376E-33F7-427D73F7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Jeden znacznik, wiele stylów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3058AFD-F85D-CC15-0506-8260FAA41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Biorąc pod uwagę rodzaj i pochodzenie tych stylów, przeglądarka może zastosować tylko jeden z nich lub więcej.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Jeśli do określonego elementu odnosi się więcej niż jeden styl, to przeglądarka łączy wszystkie dostępne w nich właściwości, jeśli nie kolidują one ze sobą.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Łatwiej wyjaśnić to na przykładzie. </a:t>
            </a:r>
          </a:p>
        </p:txBody>
      </p:sp>
    </p:spTree>
    <p:extLst>
      <p:ext uri="{BB962C8B-B14F-4D97-AF65-F5344CB8AC3E}">
        <p14:creationId xmlns:p14="http://schemas.microsoft.com/office/powerpoint/2010/main" val="8300683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20230C-F01B-376E-33F7-427D73F7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Jeden znacznik, wiele stylów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3058AFD-F85D-CC15-0506-8260FAA41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Kod HTML wygląda tak:</a:t>
            </a:r>
          </a:p>
          <a:p>
            <a:pPr lvl="1"/>
            <a:r>
              <a:rPr lang="pl-PL" dirty="0"/>
              <a:t>&lt;p </a:t>
            </a:r>
            <a:r>
              <a:rPr lang="pl-PL" dirty="0" err="1"/>
              <a:t>class</a:t>
            </a:r>
            <a:r>
              <a:rPr lang="pl-PL" dirty="0"/>
              <a:t>="</a:t>
            </a:r>
            <a:r>
              <a:rPr lang="pl-PL" dirty="0" err="1"/>
              <a:t>byline</a:t>
            </a:r>
            <a:r>
              <a:rPr lang="pl-PL" dirty="0"/>
              <a:t>"&gt;Autor: &lt;a </a:t>
            </a:r>
            <a:r>
              <a:rPr lang="pl-PL" dirty="0" err="1"/>
              <a:t>href</a:t>
            </a:r>
            <a:r>
              <a:rPr lang="pl-PL" dirty="0"/>
              <a:t>="mailto:roza@cosmofarmer.com"&gt;Róża </a:t>
            </a:r>
            <a:r>
              <a:rPr lang="pl-PL" dirty="0" err="1"/>
              <a:t>Szczawikowska</a:t>
            </a:r>
            <a:r>
              <a:rPr lang="pl-PL" dirty="0"/>
              <a:t>&lt;/a&gt;&lt;/p&gt;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Arkusz stylów dołączony do tej strony zawiera z kolei trzy style formatujące ten odnośnik:</a:t>
            </a:r>
          </a:p>
          <a:p>
            <a:pPr lvl="1"/>
            <a:r>
              <a:rPr lang="pl-PL" dirty="0"/>
              <a:t>a { </a:t>
            </a:r>
            <a:r>
              <a:rPr lang="pl-PL" dirty="0" err="1"/>
              <a:t>color</a:t>
            </a:r>
            <a:r>
              <a:rPr lang="pl-PL" dirty="0"/>
              <a:t>: #6378df; }</a:t>
            </a:r>
          </a:p>
          <a:p>
            <a:pPr lvl="1"/>
            <a:r>
              <a:rPr lang="pl-PL" dirty="0"/>
              <a:t>p a { </a:t>
            </a:r>
            <a:r>
              <a:rPr lang="pl-PL" dirty="0" err="1"/>
              <a:t>font-weight</a:t>
            </a:r>
            <a:r>
              <a:rPr lang="pl-PL" dirty="0"/>
              <a:t>: </a:t>
            </a:r>
            <a:r>
              <a:rPr lang="pl-PL" dirty="0" err="1"/>
              <a:t>bold</a:t>
            </a:r>
            <a:r>
              <a:rPr lang="pl-PL" dirty="0"/>
              <a:t> }</a:t>
            </a:r>
          </a:p>
          <a:p>
            <a:pPr lvl="1"/>
            <a:r>
              <a:rPr lang="pl-PL" dirty="0"/>
              <a:t>.</a:t>
            </a:r>
            <a:r>
              <a:rPr lang="pl-PL" dirty="0" err="1"/>
              <a:t>byline</a:t>
            </a:r>
            <a:r>
              <a:rPr lang="pl-PL" dirty="0"/>
              <a:t> a { </a:t>
            </a:r>
            <a:r>
              <a:rPr lang="pl-PL" dirty="0" err="1"/>
              <a:t>text-decoration</a:t>
            </a:r>
            <a:r>
              <a:rPr lang="pl-PL" dirty="0"/>
              <a:t>: </a:t>
            </a:r>
            <a:r>
              <a:rPr lang="pl-PL" dirty="0" err="1"/>
              <a:t>none</a:t>
            </a:r>
            <a:r>
              <a:rPr lang="pl-PL" dirty="0"/>
              <a:t>; }</a:t>
            </a:r>
          </a:p>
        </p:txBody>
      </p:sp>
    </p:spTree>
    <p:extLst>
      <p:ext uri="{BB962C8B-B14F-4D97-AF65-F5344CB8AC3E}">
        <p14:creationId xmlns:p14="http://schemas.microsoft.com/office/powerpoint/2010/main" val="17874666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20230C-F01B-376E-33F7-427D73F7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Jeden znacznik, wiele stylów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3058AFD-F85D-CC15-0506-8260FAA41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Pierwszy z nich zmienia kolor wszystkich znaczników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&lt;a&gt;</a:t>
            </a:r>
            <a:r>
              <a:rPr lang="pl-PL" dirty="0"/>
              <a:t> na niebieskofioletowy, </a:t>
            </a:r>
          </a:p>
          <a:p>
            <a:pPr lvl="0"/>
            <a:r>
              <a:rPr lang="pl-PL" dirty="0"/>
              <a:t>drugi pogrubia zawartość wszystkich znaczników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&lt;a&gt;</a:t>
            </a:r>
            <a:r>
              <a:rPr lang="pl-PL" dirty="0"/>
              <a:t> znajdujących się w znaczniku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dirty="0"/>
              <a:t>, </a:t>
            </a:r>
          </a:p>
          <a:p>
            <a:pPr lvl="0"/>
            <a:r>
              <a:rPr lang="pl-PL" dirty="0"/>
              <a:t>a trzeci usuwa podkreślenie z wszystkich odnośników w elementach należących do klasy 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byline</a:t>
            </a:r>
            <a:r>
              <a:rPr lang="pl-PL" dirty="0"/>
              <a:t>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Jako że żadna właściwość się nie powtarza, nie ma pomiędzy nimi konfliktów.</a:t>
            </a:r>
          </a:p>
          <a:p>
            <a:pPr lvl="0"/>
            <a:r>
              <a:rPr lang="pl-PL" dirty="0"/>
              <a:t> </a:t>
            </a:r>
            <a:r>
              <a:rPr lang="pl-PL" sz="1800" dirty="0"/>
              <a:t>Style połączą się, aby utworzyć jeden </a:t>
            </a:r>
            <a:r>
              <a:rPr lang="pl-PL" sz="1800" b="1" dirty="0" err="1">
                <a:solidFill>
                  <a:schemeClr val="bg1"/>
                </a:solidFill>
              </a:rPr>
              <a:t>nadstyl</a:t>
            </a:r>
            <a:r>
              <a:rPr lang="pl-PL" sz="1800" dirty="0"/>
              <a:t> zawierający wszystkie trzy właściwości. </a:t>
            </a:r>
          </a:p>
        </p:txBody>
      </p:sp>
    </p:spTree>
    <p:extLst>
      <p:ext uri="{BB962C8B-B14F-4D97-AF65-F5344CB8AC3E}">
        <p14:creationId xmlns:p14="http://schemas.microsoft.com/office/powerpoint/2010/main" val="575312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3CFED0-4C4A-3E4F-F473-03C838FB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Precyzja: który styl weźmie górę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8E5D916-AF9B-2437-2F61-FB45F3CAB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Zaprezentowany powyżej przykład jest dość prosty do rozszyfrowania.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Ale co by było, gdyby każdy z trzech wymienionych wcześniej stylów definiował inny krój pisma za pomocą właściwości </a:t>
            </a:r>
            <a:r>
              <a:rPr lang="pl-PL" b="1" dirty="0" err="1">
                <a:solidFill>
                  <a:schemeClr val="bg1"/>
                </a:solidFill>
              </a:rPr>
              <a:t>font</a:t>
            </a:r>
            <a:r>
              <a:rPr lang="pl-PL" b="1" dirty="0">
                <a:solidFill>
                  <a:schemeClr val="bg1"/>
                </a:solidFill>
              </a:rPr>
              <a:t>-family</a:t>
            </a:r>
            <a:r>
              <a:rPr lang="pl-PL" dirty="0"/>
              <a:t>?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Który z tych trzech krojów wybierze przeglądarka?</a:t>
            </a:r>
          </a:p>
        </p:txBody>
      </p:sp>
    </p:spTree>
    <p:extLst>
      <p:ext uri="{BB962C8B-B14F-4D97-AF65-F5344CB8AC3E}">
        <p14:creationId xmlns:p14="http://schemas.microsoft.com/office/powerpoint/2010/main" val="10905681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DB00FD9A-3926-E03A-BBF7-9AECD4320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r>
              <a:rPr lang="pl-PL" sz="2500" dirty="0"/>
              <a:t>W kaskadzie dostępny jest zbiór reguł pomagających przeglądarce rozstrzygnąć wszelkie konflikty.</a:t>
            </a:r>
          </a:p>
          <a:p>
            <a:endParaRPr lang="pl-PL" dirty="0"/>
          </a:p>
          <a:p>
            <a:r>
              <a:rPr lang="pl-PL" sz="2500" dirty="0"/>
              <a:t>W CSS dostępna jest formuła pozwalająca określić precyzję stylu.</a:t>
            </a:r>
          </a:p>
          <a:p>
            <a:endParaRPr lang="pl-PL" dirty="0"/>
          </a:p>
          <a:p>
            <a:endParaRPr lang="pl-PL" dirty="0"/>
          </a:p>
          <a:p>
            <a:r>
              <a:rPr lang="pl-PL" sz="2500" dirty="0"/>
              <a:t>Bazuje ona na wartościach przypisanych selektorom znacznika, klasy, identyfikatora itd.</a:t>
            </a:r>
          </a:p>
        </p:txBody>
      </p:sp>
      <p:sp>
        <p:nvSpPr>
          <p:cNvPr id="7" name="Tytuł 1">
            <a:extLst>
              <a:ext uri="{FF2B5EF4-FFF2-40B4-BE49-F238E27FC236}">
                <a16:creationId xmlns:a16="http://schemas.microsoft.com/office/drawing/2014/main" id="{973CFED0-4C4A-3E4F-F473-03C838FB9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11069719" cy="1080938"/>
          </a:xfrm>
        </p:spPr>
        <p:txBody>
          <a:bodyPr/>
          <a:lstStyle/>
          <a:p>
            <a:r>
              <a:rPr lang="pl-PL" dirty="0"/>
              <a:t>Precyzja: który styl weźmie górę</a:t>
            </a:r>
          </a:p>
        </p:txBody>
      </p:sp>
    </p:spTree>
    <p:extLst>
      <p:ext uri="{BB962C8B-B14F-4D97-AF65-F5344CB8AC3E}">
        <p14:creationId xmlns:p14="http://schemas.microsoft.com/office/powerpoint/2010/main" val="2381744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EF04C8B-554F-BAA5-48E6-390A52CF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3000" dirty="0"/>
              <a:t>Selektor znacznika ma wartość 1,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3000" dirty="0"/>
              <a:t>Selektor klasy ma wartość 10,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3000" dirty="0"/>
              <a:t>Selektor identyfikatora ma wartość 100,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3000" dirty="0"/>
              <a:t>Styl wpisany (</a:t>
            </a:r>
            <a:r>
              <a:rPr lang="pl-PL" sz="3000" dirty="0" err="1"/>
              <a:t>inline</a:t>
            </a:r>
            <a:r>
              <a:rPr lang="pl-PL" sz="3000" dirty="0"/>
              <a:t>) ma wartość 1000.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Im większa liczba, tym większa precyzja selektora.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973CFED0-4C4A-3E4F-F473-03C838FB9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11069719" cy="1080938"/>
          </a:xfrm>
        </p:spPr>
        <p:txBody>
          <a:bodyPr/>
          <a:lstStyle/>
          <a:p>
            <a:r>
              <a:rPr lang="pl-PL" dirty="0"/>
              <a:t>Precyzja: który styl weźmie górę</a:t>
            </a:r>
          </a:p>
        </p:txBody>
      </p:sp>
    </p:spTree>
    <p:extLst>
      <p:ext uri="{BB962C8B-B14F-4D97-AF65-F5344CB8AC3E}">
        <p14:creationId xmlns:p14="http://schemas.microsoft.com/office/powerpoint/2010/main" val="25814555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EF04C8B-554F-BAA5-48E6-390A52CF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Załóżmy, że utworzyliśmy takie trzy style:</a:t>
            </a:r>
          </a:p>
          <a:p>
            <a:pPr lvl="2"/>
            <a:r>
              <a:rPr lang="pl-PL" dirty="0"/>
              <a:t>styl znacznika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</a:rPr>
              <a:t>&lt;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img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</a:rPr>
              <a:t>&gt;</a:t>
            </a:r>
            <a:r>
              <a:rPr lang="pl-PL" dirty="0"/>
              <a:t> (precyzja 1),</a:t>
            </a:r>
          </a:p>
          <a:p>
            <a:pPr lvl="2"/>
            <a:r>
              <a:rPr lang="pl-PL" dirty="0"/>
              <a:t>styl klasy o nazwie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</a:rPr>
              <a:t>.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highlight</a:t>
            </a:r>
            <a:r>
              <a:rPr lang="pl-PL" dirty="0"/>
              <a:t> (precyzja 10),</a:t>
            </a:r>
          </a:p>
          <a:p>
            <a:pPr lvl="2"/>
            <a:r>
              <a:rPr lang="pl-PL" dirty="0"/>
              <a:t>styl identyfikatora o nazwie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</a:rPr>
              <a:t>#logo</a:t>
            </a:r>
            <a:r>
              <a:rPr lang="pl-PL" dirty="0"/>
              <a:t> (precyzja 100).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Kod HTML:</a:t>
            </a:r>
          </a:p>
          <a:p>
            <a:pPr lvl="1"/>
            <a:r>
              <a:rPr lang="pl-PL" dirty="0"/>
              <a:t>&lt;</a:t>
            </a:r>
            <a:r>
              <a:rPr lang="pl-PL" dirty="0" err="1"/>
              <a:t>img</a:t>
            </a:r>
            <a:r>
              <a:rPr lang="pl-PL" dirty="0"/>
              <a:t> id="logo" </a:t>
            </a:r>
            <a:r>
              <a:rPr lang="pl-PL" dirty="0" err="1"/>
              <a:t>class</a:t>
            </a:r>
            <a:r>
              <a:rPr lang="pl-PL" dirty="0"/>
              <a:t>="</a:t>
            </a:r>
            <a:r>
              <a:rPr lang="pl-PL" dirty="0" err="1"/>
              <a:t>highlight</a:t>
            </a:r>
            <a:r>
              <a:rPr lang="pl-PL" dirty="0"/>
              <a:t>" </a:t>
            </a:r>
            <a:r>
              <a:rPr lang="pl-PL" dirty="0" err="1"/>
              <a:t>src</a:t>
            </a:r>
            <a:r>
              <a:rPr lang="pl-PL" dirty="0"/>
              <a:t>="logo.gif" /&gt;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Jeśli w każdym z tych trzech stylów zastosujemy taką samą właściwość — na przykład </a:t>
            </a:r>
            <a:r>
              <a:rPr lang="pl-PL" dirty="0" err="1"/>
              <a:t>border</a:t>
            </a:r>
            <a:r>
              <a:rPr lang="pl-PL" dirty="0"/>
              <a:t> — to w tym przypadku wygra wartość stylu identyfikatora (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#logo</a:t>
            </a:r>
            <a:r>
              <a:rPr lang="pl-PL" dirty="0"/>
              <a:t>).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973CFED0-4C4A-3E4F-F473-03C838FB9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11069719" cy="1080938"/>
          </a:xfrm>
        </p:spPr>
        <p:txBody>
          <a:bodyPr/>
          <a:lstStyle/>
          <a:p>
            <a:r>
              <a:rPr lang="pl-PL" dirty="0"/>
              <a:t>Precyzja: który styl weźmie górę</a:t>
            </a:r>
          </a:p>
        </p:txBody>
      </p:sp>
    </p:spTree>
    <p:extLst>
      <p:ext uri="{BB962C8B-B14F-4D97-AF65-F5344CB8AC3E}">
        <p14:creationId xmlns:p14="http://schemas.microsoft.com/office/powerpoint/2010/main" val="34296723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EF04C8B-554F-BAA5-48E6-390A52CF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 err="1"/>
              <a:t>Pseudoelementy</a:t>
            </a:r>
            <a:r>
              <a:rPr lang="pl-PL" dirty="0"/>
              <a:t> (np.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first-line</a:t>
            </a:r>
            <a:r>
              <a:rPr lang="pl-PL" dirty="0"/>
              <a:t>) są traktowane jako selektory znacznika, a więc mają wartość 1.</a:t>
            </a:r>
          </a:p>
          <a:p>
            <a:pPr lvl="0"/>
            <a:r>
              <a:rPr lang="pl-PL" dirty="0"/>
              <a:t> </a:t>
            </a:r>
          </a:p>
          <a:p>
            <a:pPr lvl="0"/>
            <a:r>
              <a:rPr lang="pl-PL" dirty="0" err="1"/>
              <a:t>Pseudoklasy</a:t>
            </a:r>
            <a:r>
              <a:rPr lang="pl-PL" dirty="0"/>
              <a:t> (np.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:link</a:t>
            </a:r>
            <a:r>
              <a:rPr lang="pl-PL" dirty="0"/>
              <a:t>) są uznawane za zwykłe klasy i mają wartość 10.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Selektory potomka składają się z kilku selektorów — na przykład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  <a:r>
              <a:rPr lang="pl-PL" dirty="0"/>
              <a:t> albo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h2 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lang="pl-PL" dirty="0"/>
              <a:t>. 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Precyzja selektora potomka jest sumą wartości wszystkich zawartych w nim selektorów.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973CFED0-4C4A-3E4F-F473-03C838FB9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11069719" cy="1080938"/>
          </a:xfrm>
        </p:spPr>
        <p:txBody>
          <a:bodyPr/>
          <a:lstStyle/>
          <a:p>
            <a:r>
              <a:rPr lang="pl-PL" dirty="0"/>
              <a:t>Precyzja: który styl weźmie górę</a:t>
            </a:r>
          </a:p>
        </p:txBody>
      </p:sp>
    </p:spTree>
    <p:extLst>
      <p:ext uri="{BB962C8B-B14F-4D97-AF65-F5344CB8AC3E}">
        <p14:creationId xmlns:p14="http://schemas.microsoft.com/office/powerpoint/2010/main" val="19915527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EF04C8B-554F-BAA5-48E6-390A52CF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Właściwości dziedziczone nie mają żadnej precyzji,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a więc nawet jeśli znacznik odziedziczy właściwości po stylu o wysokiej precyzji — jak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#banner</a:t>
            </a:r>
            <a:r>
              <a:rPr lang="pl-PL" dirty="0"/>
              <a:t> — </a:t>
            </a:r>
          </a:p>
          <a:p>
            <a:pPr lvl="0"/>
            <a:endParaRPr lang="pl-PL" dirty="0"/>
          </a:p>
          <a:p>
            <a:pPr lvl="0"/>
            <a:endParaRPr lang="pl-PL" dirty="0"/>
          </a:p>
          <a:p>
            <a:pPr lvl="0"/>
            <a:r>
              <a:rPr lang="pl-PL" sz="1800" dirty="0"/>
              <a:t>to będą one zawsze przesłaniane przez style bezpośrednio odwołujące się do znacznika.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973CFED0-4C4A-3E4F-F473-03C838FB9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11069719" cy="1080938"/>
          </a:xfrm>
        </p:spPr>
        <p:txBody>
          <a:bodyPr/>
          <a:lstStyle/>
          <a:p>
            <a:r>
              <a:rPr lang="pl-PL" dirty="0"/>
              <a:t>Precyzja: który styl weźmie górę</a:t>
            </a:r>
          </a:p>
        </p:txBody>
      </p:sp>
    </p:spTree>
    <p:extLst>
      <p:ext uri="{BB962C8B-B14F-4D97-AF65-F5344CB8AC3E}">
        <p14:creationId xmlns:p14="http://schemas.microsoft.com/office/powerpoint/2010/main" val="11308748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9F72A7-7240-1BB7-89AB-6CDE4230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Jeśli remis to wygrywa ostatni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5C94A8B-B265-4FB9-2ACF-BA2D3F3E3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Załóżmy, że dwa style z kolidującymi właściwościami miały taką samą precyzję.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Remis może wystąpić, gdy ten sam selektor jest zdefiniowany w dwóch różnych miejscach. Może też się zdarzyć, że dwa różne style mają po prostu takie same wartości.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Na przykład selektor znacznika &lt;p&gt; może znajdować się w zewnętrznym i wewnętrznym arkuszu stylów.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W przypadku remisu wygrywa styl, który jest ostatni w arkuszu.</a:t>
            </a:r>
          </a:p>
        </p:txBody>
      </p:sp>
    </p:spTree>
    <p:extLst>
      <p:ext uri="{BB962C8B-B14F-4D97-AF65-F5344CB8AC3E}">
        <p14:creationId xmlns:p14="http://schemas.microsoft.com/office/powerpoint/2010/main" val="1810858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9F72A7-7240-1BB7-89AB-6CDE4230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Jeśli remis to wygrywa ostatni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5C94A8B-B265-4FB9-2ACF-BA2D3F3E3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Przykład:</a:t>
            </a:r>
          </a:p>
          <a:p>
            <a:pPr lvl="1"/>
            <a:r>
              <a:rPr lang="pl-PL" dirty="0"/>
              <a:t>&lt;p </a:t>
            </a:r>
            <a:r>
              <a:rPr lang="pl-PL" dirty="0" err="1"/>
              <a:t>class</a:t>
            </a:r>
            <a:r>
              <a:rPr lang="pl-PL" dirty="0"/>
              <a:t>="</a:t>
            </a:r>
            <a:r>
              <a:rPr lang="pl-PL" dirty="0" err="1"/>
              <a:t>byline</a:t>
            </a:r>
            <a:r>
              <a:rPr lang="pl-PL" dirty="0"/>
              <a:t>"&gt;Autor:</a:t>
            </a:r>
          </a:p>
          <a:p>
            <a:pPr lvl="1"/>
            <a:r>
              <a:rPr lang="pl-PL" dirty="0"/>
              <a:t>  </a:t>
            </a:r>
            <a:r>
              <a:rPr lang="en-US" dirty="0"/>
              <a:t>&lt;a class="email" </a:t>
            </a:r>
            <a:r>
              <a:rPr lang="en-US" dirty="0" err="1"/>
              <a:t>href</a:t>
            </a:r>
            <a:r>
              <a:rPr lang="en-US" dirty="0"/>
              <a:t>="mailto:roza@cosmofarmer.com"&gt;Róża </a:t>
            </a:r>
            <a:r>
              <a:rPr lang="en-US" dirty="0" err="1"/>
              <a:t>Szczawikowska</a:t>
            </a:r>
            <a:r>
              <a:rPr lang="en-US" dirty="0"/>
              <a:t>&lt;/a&gt;</a:t>
            </a:r>
          </a:p>
          <a:p>
            <a:pPr lvl="1"/>
            <a:r>
              <a:rPr lang="pl-PL" dirty="0"/>
              <a:t>&lt;/p&gt;</a:t>
            </a:r>
          </a:p>
          <a:p>
            <a:pPr lvl="0"/>
            <a:r>
              <a:rPr lang="pl-PL" dirty="0"/>
              <a:t>W arkuszu stylów dołączonym do strony zawierającej powyższy akapit i odnośnik znajdują się dwa style:</a:t>
            </a:r>
          </a:p>
          <a:p>
            <a:pPr lvl="1"/>
            <a:r>
              <a:rPr lang="pl-PL" dirty="0"/>
              <a:t>p .email {</a:t>
            </a:r>
            <a:r>
              <a:rPr lang="pl-PL" dirty="0" err="1"/>
              <a:t>color</a:t>
            </a:r>
            <a:r>
              <a:rPr lang="pl-PL" dirty="0"/>
              <a:t>: </a:t>
            </a:r>
            <a:r>
              <a:rPr lang="pl-PL" dirty="0" err="1"/>
              <a:t>blue</a:t>
            </a:r>
            <a:r>
              <a:rPr lang="pl-PL" dirty="0"/>
              <a:t>;}</a:t>
            </a:r>
          </a:p>
          <a:p>
            <a:pPr lvl="1"/>
            <a:r>
              <a:rPr lang="pl-PL" dirty="0"/>
              <a:t>.</a:t>
            </a:r>
            <a:r>
              <a:rPr lang="pl-PL" dirty="0" err="1"/>
              <a:t>byline</a:t>
            </a:r>
            <a:r>
              <a:rPr lang="pl-PL" dirty="0"/>
              <a:t> a {</a:t>
            </a:r>
            <a:r>
              <a:rPr lang="pl-PL" dirty="0" err="1"/>
              <a:t>color</a:t>
            </a:r>
            <a:r>
              <a:rPr lang="pl-PL" dirty="0"/>
              <a:t>: red;}</a:t>
            </a:r>
          </a:p>
          <a:p>
            <a:pPr lvl="0"/>
            <a:r>
              <a:rPr lang="pl-PL" sz="1800" dirty="0"/>
              <a:t>Precyzję na poziomie 11 (po 10 za klasę i po 1 za selektor znacznika) i odnoszą się do znacznika &lt;a&gt;. </a:t>
            </a:r>
          </a:p>
          <a:p>
            <a:pPr lvl="0"/>
            <a:br>
              <a:rPr lang="pl-PL" sz="1800" dirty="0"/>
            </a:br>
            <a:r>
              <a:rPr lang="pl-PL" sz="1800" dirty="0"/>
              <a:t>Remis. Wygrywa </a:t>
            </a:r>
            <a:r>
              <a:rPr lang="pl-PL" sz="1800" b="1" dirty="0">
                <a:solidFill>
                  <a:schemeClr val="bg1"/>
                </a:solidFill>
              </a:rPr>
              <a:t>czerwony</a:t>
            </a:r>
            <a:r>
              <a:rPr lang="pl-PL" sz="1800" dirty="0"/>
              <a:t>, jako że jest ostatni w arkuszu.</a:t>
            </a:r>
          </a:p>
        </p:txBody>
      </p:sp>
    </p:spTree>
    <p:extLst>
      <p:ext uri="{BB962C8B-B14F-4D97-AF65-F5344CB8AC3E}">
        <p14:creationId xmlns:p14="http://schemas.microsoft.com/office/powerpoint/2010/main" val="32078706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9F72A7-7240-1BB7-89AB-6CDE4230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Jeśli remis to wygrywa ostatni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5C94A8B-B265-4FB9-2ACF-BA2D3F3E3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Arkusz stylów wygląda tak: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.</a:t>
            </a:r>
            <a:r>
              <a:rPr lang="pl-PL" dirty="0" err="1"/>
              <a:t>byline</a:t>
            </a:r>
            <a:r>
              <a:rPr lang="pl-PL" dirty="0"/>
              <a:t> a {</a:t>
            </a:r>
            <a:r>
              <a:rPr lang="pl-PL" dirty="0" err="1"/>
              <a:t>color</a:t>
            </a:r>
            <a:r>
              <a:rPr lang="pl-PL" dirty="0"/>
              <a:t>: red;}</a:t>
            </a:r>
          </a:p>
          <a:p>
            <a:pPr lvl="1"/>
            <a:r>
              <a:rPr lang="pl-PL" dirty="0"/>
              <a:t>p .email {</a:t>
            </a:r>
            <a:r>
              <a:rPr lang="pl-PL" dirty="0" err="1"/>
              <a:t>color</a:t>
            </a:r>
            <a:r>
              <a:rPr lang="pl-PL" dirty="0"/>
              <a:t>: </a:t>
            </a:r>
            <a:r>
              <a:rPr lang="pl-PL" dirty="0" err="1"/>
              <a:t>blue</a:t>
            </a:r>
            <a:r>
              <a:rPr lang="pl-PL" dirty="0"/>
              <a:t>;}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W tym przypadku odnośnik będzie niebieski. 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Jako że selektor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.email</a:t>
            </a:r>
            <a:r>
              <a:rPr lang="pl-PL" sz="1800" dirty="0"/>
              <a:t> znajduje się w arkuszu za selektorem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byline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pl-PL" sz="1800" dirty="0"/>
              <a:t>, jego właściwości biorą tym razem górę.</a:t>
            </a:r>
          </a:p>
        </p:txBody>
      </p:sp>
    </p:spTree>
    <p:extLst>
      <p:ext uri="{BB962C8B-B14F-4D97-AF65-F5344CB8AC3E}">
        <p14:creationId xmlns:p14="http://schemas.microsoft.com/office/powerpoint/2010/main" val="26108199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6F133F-9A34-B163-1C87-090A316E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Ignorowanie precyzji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41C61EC-42AB-D04B-DDB0-826955AD8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Możliwe jest całkowite przesłonięcie zasady precyzyjności. </a:t>
            </a:r>
          </a:p>
          <a:p>
            <a:pPr lvl="0"/>
            <a:r>
              <a:rPr lang="pl-PL" dirty="0"/>
              <a:t>Wystarczy po takiej właściwości umieścić słowo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important</a:t>
            </a:r>
            <a:r>
              <a:rPr lang="pl-PL" dirty="0"/>
              <a:t>, które będzie ją chronić przed zasadą precyzyjności.</a:t>
            </a:r>
          </a:p>
          <a:p>
            <a:pPr lvl="0"/>
            <a:endParaRPr lang="pl-PL" dirty="0"/>
          </a:p>
          <a:p>
            <a:pPr lvl="1"/>
            <a:r>
              <a:rPr lang="pl-PL" dirty="0"/>
              <a:t>.</a:t>
            </a:r>
            <a:r>
              <a:rPr lang="pl-PL" dirty="0" err="1"/>
              <a:t>nav</a:t>
            </a:r>
            <a:r>
              <a:rPr lang="pl-PL" dirty="0"/>
              <a:t> a { </a:t>
            </a:r>
            <a:r>
              <a:rPr lang="pl-PL" dirty="0" err="1"/>
              <a:t>color</a:t>
            </a:r>
            <a:r>
              <a:rPr lang="pl-PL" dirty="0"/>
              <a:t>: red; }</a:t>
            </a:r>
          </a:p>
          <a:p>
            <a:pPr lvl="1"/>
            <a:r>
              <a:rPr lang="pl-PL" dirty="0"/>
              <a:t>a { </a:t>
            </a:r>
            <a:r>
              <a:rPr lang="pl-PL" dirty="0" err="1"/>
              <a:t>color</a:t>
            </a:r>
            <a:r>
              <a:rPr lang="pl-PL" dirty="0"/>
              <a:t>: </a:t>
            </a:r>
            <a:r>
              <a:rPr lang="pl-PL" dirty="0" err="1"/>
              <a:t>teal</a:t>
            </a:r>
            <a:r>
              <a:rPr lang="pl-PL" dirty="0"/>
              <a:t> !</a:t>
            </a:r>
            <a:r>
              <a:rPr lang="pl-PL" dirty="0" err="1"/>
              <a:t>important</a:t>
            </a:r>
            <a:r>
              <a:rPr lang="pl-PL" dirty="0"/>
              <a:t>; }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Odnośnik w elemencie z klasą 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/>
              <a:t>miałby kolor czerwony, ponieważ styl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pl-PL" dirty="0"/>
              <a:t> jest znacznie bardziej precyzyjny (11) od stylu znacznika a (1).</a:t>
            </a:r>
          </a:p>
        </p:txBody>
      </p:sp>
    </p:spTree>
    <p:extLst>
      <p:ext uri="{BB962C8B-B14F-4D97-AF65-F5344CB8AC3E}">
        <p14:creationId xmlns:p14="http://schemas.microsoft.com/office/powerpoint/2010/main" val="14877834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6F133F-9A34-B163-1C87-090A316E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Ignorowanie precyzji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41C61EC-42AB-D04B-DDB0-826955AD8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Zastosowanie zapisu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important</a:t>
            </a:r>
            <a:r>
              <a:rPr lang="pl-PL" dirty="0"/>
              <a:t> oznacza, że to ona będzie zawsze wybierana. </a:t>
            </a:r>
          </a:p>
          <a:p>
            <a:pPr lvl="0"/>
            <a:r>
              <a:rPr lang="pl-PL" dirty="0"/>
              <a:t>Wszystkie odnośniki na stronie — włącznie z tymi, które znajdują się w elementach przypisanych do klasy 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/>
              <a:t>— będą miały kolor zielonkawy.</a:t>
            </a:r>
          </a:p>
          <a:p>
            <a:pPr lvl="0"/>
            <a:endParaRPr lang="pl-PL" dirty="0"/>
          </a:p>
          <a:p>
            <a:pPr lvl="0"/>
            <a:endParaRPr lang="pl-PL" dirty="0"/>
          </a:p>
          <a:p>
            <a:pPr lvl="0"/>
            <a:r>
              <a:rPr lang="pl-PL" sz="1800" dirty="0"/>
              <a:t>Polecenie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important</a:t>
            </a:r>
            <a:r>
              <a:rPr lang="pl-PL" sz="1800" dirty="0"/>
              <a:t> stosuje się do pojedynczych właściwości, a nie do całych stylów. </a:t>
            </a:r>
          </a:p>
          <a:p>
            <a:pPr lvl="0"/>
            <a:r>
              <a:rPr lang="pl-PL" sz="1800" dirty="0"/>
              <a:t>Jeśli dwa style mają polecenie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important</a:t>
            </a:r>
            <a:r>
              <a:rPr lang="pl-PL" sz="1800" dirty="0"/>
              <a:t> zastosowane do tej samej właściwości, wygrywa ten o większej precyzji.</a:t>
            </a:r>
          </a:p>
        </p:txBody>
      </p:sp>
    </p:spTree>
    <p:extLst>
      <p:ext uri="{BB962C8B-B14F-4D97-AF65-F5344CB8AC3E}">
        <p14:creationId xmlns:p14="http://schemas.microsoft.com/office/powerpoint/2010/main" val="36476304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4F3570-73FD-C803-F5DF-32A3F57D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Zmienianie precyzji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88D5801-F56C-C413-C877-01E0D7307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34854" cy="3599316"/>
          </a:xfrm>
        </p:spPr>
        <p:txBody>
          <a:bodyPr/>
          <a:lstStyle/>
          <a:p>
            <a:pPr lvl="0"/>
            <a:r>
              <a:rPr lang="pl-PL" dirty="0"/>
              <a:t>Górny obrazek ilustruje precyzyjny styl znacznika, który przegrywa.</a:t>
            </a:r>
          </a:p>
          <a:p>
            <a:pPr lvl="0"/>
            <a:r>
              <a:rPr lang="pl-PL" dirty="0"/>
              <a:t>W większości przypadków można zmienić precyzję jednego z kolidujących stylów, zachowując polecenie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important</a:t>
            </a:r>
            <a:r>
              <a:rPr lang="pl-PL" dirty="0"/>
              <a:t> dla prawdziwych sytuacji bez wyjścia. </a:t>
            </a:r>
          </a:p>
          <a:p>
            <a:pPr lvl="0"/>
            <a:endParaRPr lang="pl-PL" sz="1800" dirty="0"/>
          </a:p>
          <a:p>
            <a:pPr lvl="0"/>
            <a:r>
              <a:rPr lang="pl-PL" sz="1800" dirty="0"/>
              <a:t>Pierwszy akapit jest formatowany przez dwa style. Styl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sidebar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  <a:r>
              <a:rPr lang="pl-PL" sz="1800" dirty="0"/>
              <a:t> jest bardziej precyzyjny od stylu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intro</a:t>
            </a:r>
            <a:r>
              <a:rPr lang="pl-PL" sz="1800" dirty="0"/>
              <a:t>, w związku z czym zastosowanie będzie miał ten pierwszy. </a:t>
            </a:r>
          </a:p>
          <a:p>
            <a:pPr lvl="0"/>
            <a:r>
              <a:rPr lang="pl-PL" sz="1800" dirty="0"/>
              <a:t>Aby zwiększyć precyzję klasy, można do selektora dodać identyfikator: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sidebar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intro</a:t>
            </a:r>
            <a:r>
              <a:rPr lang="pl-PL" sz="1800" dirty="0"/>
              <a:t>.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960" y="2101983"/>
            <a:ext cx="2914263" cy="468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846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4F3570-73FD-C803-F5DF-32A3F57D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Zmienianie precyzji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88D5801-F56C-C413-C877-01E0D7307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303112" cy="3599316"/>
          </a:xfrm>
        </p:spPr>
        <p:txBody>
          <a:bodyPr/>
          <a:lstStyle/>
          <a:p>
            <a:pPr lvl="0"/>
            <a:r>
              <a:rPr lang="pl-PL" dirty="0"/>
              <a:t>Dodawanie kolejnych selektorów prostych, aby podnieść precyzję selektora, może doprowadzić do tzw. </a:t>
            </a:r>
            <a:r>
              <a:rPr lang="pl-PL" b="1" dirty="0">
                <a:solidFill>
                  <a:schemeClr val="bg1"/>
                </a:solidFill>
              </a:rPr>
              <a:t>wojen na precyzję</a:t>
            </a:r>
            <a:r>
              <a:rPr lang="pl-PL" dirty="0"/>
              <a:t> (ang. </a:t>
            </a:r>
            <a:r>
              <a:rPr lang="pl-PL" i="1" dirty="0" err="1"/>
              <a:t>specificity</a:t>
            </a:r>
            <a:r>
              <a:rPr lang="pl-PL" i="1" dirty="0"/>
              <a:t> </a:t>
            </a:r>
            <a:r>
              <a:rPr lang="pl-PL" i="1" dirty="0" err="1"/>
              <a:t>wars</a:t>
            </a:r>
            <a:r>
              <a:rPr lang="pl-PL" dirty="0"/>
              <a:t>), czyli powstania bardzo długich i skomplikowanych selektorów, na przykład: 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home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</a:t>
            </a:r>
            <a:r>
              <a:rPr lang="pl-PL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l-PL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#story h1</a:t>
            </a:r>
            <a:r>
              <a:rPr lang="pl-PL" dirty="0"/>
              <a:t>. </a:t>
            </a:r>
          </a:p>
          <a:p>
            <a:pPr lvl="0"/>
            <a:r>
              <a:rPr lang="pl-PL" dirty="0"/>
              <a:t>Należy tego unikać i starać się, aby selektory były jak najkrótsze.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Selektor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sidebar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  <a:r>
              <a:rPr lang="pl-PL" sz="1800" dirty="0"/>
              <a:t> ma precyzję 101 (100 za identyfikator i 1 za selektor elementu), natomiast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intro</a:t>
            </a:r>
            <a:r>
              <a:rPr lang="pl-PL" sz="1800" dirty="0"/>
              <a:t> ma precyzję 10 (tyle punktów przyznawanych jest za klasę). </a:t>
            </a:r>
          </a:p>
          <a:p>
            <a:pPr lvl="0"/>
            <a:r>
              <a:rPr lang="pl-PL" sz="1800" dirty="0"/>
              <a:t>Ponieważ liczba 101 jest większa od 10, zastosowany zostanie selektor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sidebar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  <a:r>
              <a:rPr lang="pl-PL" sz="1800" dirty="0"/>
              <a:t>. </a:t>
            </a:r>
          </a:p>
          <a:p>
            <a:pPr lvl="0"/>
            <a:endParaRPr lang="pl-PL" sz="1800" dirty="0"/>
          </a:p>
          <a:p>
            <a:pPr lvl="0"/>
            <a:r>
              <a:rPr lang="pl-PL" sz="1800" dirty="0"/>
              <a:t>Z kolei selektor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sidebar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pl-PL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intro</a:t>
            </a:r>
            <a:r>
              <a:rPr lang="pl-PL" sz="1800" dirty="0"/>
              <a:t> ma precyzję 110.</a:t>
            </a:r>
          </a:p>
        </p:txBody>
      </p:sp>
    </p:spTree>
    <p:extLst>
      <p:ext uri="{BB962C8B-B14F-4D97-AF65-F5344CB8AC3E}">
        <p14:creationId xmlns:p14="http://schemas.microsoft.com/office/powerpoint/2010/main" val="2574750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Resetowanie stylów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Przeglądarki mają własne standardowe arkusze stylów, które stosują do formatowania elementów na stronach internetowych,</a:t>
            </a:r>
          </a:p>
          <a:p>
            <a:pPr lvl="0"/>
            <a:endParaRPr lang="pl-PL" dirty="0"/>
          </a:p>
          <a:p>
            <a:pPr lvl="0"/>
            <a:r>
              <a:rPr lang="pl-PL" sz="1800" dirty="0"/>
              <a:t>na przykład elementy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&lt;h1&gt;</a:t>
            </a:r>
            <a:r>
              <a:rPr lang="pl-PL" sz="1800" dirty="0"/>
              <a:t> są większe od elementów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&lt;h2&gt;</a:t>
            </a:r>
            <a:r>
              <a:rPr lang="pl-PL" sz="1800" dirty="0"/>
              <a:t> oraz jedne i drugie są pogrubione, a akapity </a:t>
            </a:r>
            <a:r>
              <a:rPr lang="pl-PL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pl-PL" sz="1800" dirty="0"/>
              <a:t> mają mniejszy rozmiar pisma i nie są pogrubione.</a:t>
            </a:r>
          </a:p>
          <a:p>
            <a:pPr lvl="0"/>
            <a:r>
              <a:rPr lang="pl-PL" sz="1800" dirty="0"/>
              <a:t>Łącza są standardowo podkreślone, listy punktowane są wcięte itd.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Twórcy przeglądarek definiują standardowe style po to, aby najprostsze dokumenty były choć czytelne. Style różnych przeglądarek są do siebie bardzo podobne, ale występują też między nimi różnice.</a:t>
            </a:r>
          </a:p>
        </p:txBody>
      </p:sp>
    </p:spTree>
    <p:extLst>
      <p:ext uri="{BB962C8B-B14F-4D97-AF65-F5344CB8AC3E}">
        <p14:creationId xmlns:p14="http://schemas.microsoft.com/office/powerpoint/2010/main" val="8498906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Resetowanie stylów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Reset CSS polega na usunięciu całego formatowania zdefiniowanego w przeglądarkach, po czym definiuje się własne reguły CSS. </a:t>
            </a:r>
          </a:p>
          <a:p>
            <a:pPr lvl="0"/>
            <a:endParaRPr lang="pl-PL" dirty="0"/>
          </a:p>
          <a:p>
            <a:pPr lvl="0"/>
            <a:r>
              <a:rPr lang="pl-PL" dirty="0"/>
              <a:t>Na kolejnych slajdach znajduje się przykładowy reset CSS.</a:t>
            </a:r>
          </a:p>
          <a:p>
            <a:pPr lvl="0"/>
            <a:r>
              <a:rPr lang="pl-PL" dirty="0"/>
              <a:t>Jest on adaptacją popularnego i cenionego resetu </a:t>
            </a:r>
            <a:r>
              <a:rPr lang="pl-PL" dirty="0" err="1"/>
              <a:t>Erica</a:t>
            </a:r>
            <a:r>
              <a:rPr lang="pl-PL" dirty="0"/>
              <a:t> Meyera, </a:t>
            </a:r>
            <a:br>
              <a:rPr lang="pl-PL" dirty="0"/>
            </a:br>
            <a:r>
              <a:rPr lang="pl-PL" dirty="0"/>
              <a:t>dostępnego na stronie </a:t>
            </a:r>
            <a:r>
              <a:rPr lang="pl-PL" dirty="0">
                <a:hlinkClick r:id="rId2"/>
              </a:rPr>
              <a:t>http://meyerweb.com/eric/tools/css/reset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60466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Resetowanie stylów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idx="1"/>
          </p:nvPr>
        </p:nvSpPr>
        <p:spPr>
          <a:xfrm>
            <a:off x="-308520" y="2336873"/>
            <a:ext cx="6007572" cy="3599316"/>
          </a:xfrm>
        </p:spPr>
        <p:txBody>
          <a:bodyPr/>
          <a:lstStyle/>
          <a:p>
            <a:pPr lvl="1"/>
            <a:r>
              <a:rPr lang="en-US" sz="1600" dirty="0"/>
              <a:t>html, body, div, span, object, iframe, h1, h2, h3, h4, h5, h6, p, </a:t>
            </a:r>
            <a:r>
              <a:rPr lang="en-US" sz="1600" dirty="0" err="1"/>
              <a:t>blockquote</a:t>
            </a:r>
            <a:r>
              <a:rPr lang="en-US" sz="1600" dirty="0"/>
              <a:t>, pre, a, </a:t>
            </a:r>
            <a:r>
              <a:rPr lang="en-US" sz="1600" dirty="0" err="1"/>
              <a:t>abbr</a:t>
            </a:r>
            <a:r>
              <a:rPr lang="en-US" sz="1600" dirty="0"/>
              <a:t>, acronym, address, big, cite, code, d</a:t>
            </a:r>
            <a:r>
              <a:rPr lang="pl-PL" sz="1600" dirty="0"/>
              <a:t>el, </a:t>
            </a:r>
            <a:r>
              <a:rPr lang="pl-PL" sz="1600" dirty="0" err="1"/>
              <a:t>dfn</a:t>
            </a:r>
            <a:r>
              <a:rPr lang="pl-PL" sz="1600" dirty="0"/>
              <a:t>, em, </a:t>
            </a:r>
            <a:r>
              <a:rPr lang="pl-PL" sz="1600" dirty="0" err="1"/>
              <a:t>img</a:t>
            </a:r>
            <a:r>
              <a:rPr lang="pl-PL" sz="1600" dirty="0"/>
              <a:t>, </a:t>
            </a:r>
            <a:r>
              <a:rPr lang="pl-PL" sz="1600" dirty="0" err="1"/>
              <a:t>ins</a:t>
            </a:r>
            <a:r>
              <a:rPr lang="pl-PL" sz="1600" dirty="0"/>
              <a:t>, </a:t>
            </a:r>
            <a:r>
              <a:rPr lang="pl-PL" sz="1600" dirty="0" err="1"/>
              <a:t>kbd</a:t>
            </a:r>
            <a:r>
              <a:rPr lang="pl-PL" sz="1600" dirty="0"/>
              <a:t>, q, s, </a:t>
            </a:r>
            <a:r>
              <a:rPr lang="pl-PL" sz="1600" dirty="0" err="1"/>
              <a:t>samp</a:t>
            </a:r>
            <a:r>
              <a:rPr lang="pl-PL" sz="1600" dirty="0"/>
              <a:t>, small, </a:t>
            </a:r>
            <a:r>
              <a:rPr lang="pl-PL" sz="1600" dirty="0" err="1"/>
              <a:t>strike</a:t>
            </a:r>
            <a:r>
              <a:rPr lang="pl-PL" sz="1600" dirty="0"/>
              <a:t>, </a:t>
            </a:r>
            <a:r>
              <a:rPr lang="pl-PL" sz="1600" dirty="0" err="1"/>
              <a:t>strong</a:t>
            </a:r>
            <a:r>
              <a:rPr lang="pl-PL" sz="1600" dirty="0"/>
              <a:t>, </a:t>
            </a:r>
            <a:r>
              <a:rPr lang="pl-PL" sz="1600" dirty="0" err="1"/>
              <a:t>sub</a:t>
            </a:r>
            <a:r>
              <a:rPr lang="pl-PL" sz="1600" dirty="0"/>
              <a:t>, </a:t>
            </a:r>
            <a:r>
              <a:rPr lang="pl-PL" sz="1600" dirty="0" err="1"/>
              <a:t>sup</a:t>
            </a:r>
            <a:r>
              <a:rPr lang="pl-PL" sz="1600" dirty="0"/>
              <a:t>, </a:t>
            </a:r>
            <a:r>
              <a:rPr lang="pl-PL" sz="1600" dirty="0" err="1"/>
              <a:t>tt</a:t>
            </a:r>
            <a:r>
              <a:rPr lang="pl-PL" sz="1600" dirty="0"/>
              <a:t>, </a:t>
            </a:r>
            <a:r>
              <a:rPr lang="pl-PL" sz="1600" dirty="0" err="1"/>
              <a:t>var</a:t>
            </a:r>
            <a:r>
              <a:rPr lang="pl-PL" sz="1600" dirty="0"/>
              <a:t>, b, u, i, </a:t>
            </a:r>
            <a:r>
              <a:rPr lang="pl-PL" sz="1600" dirty="0" err="1"/>
              <a:t>center</a:t>
            </a:r>
            <a:r>
              <a:rPr lang="pl-PL" sz="1600" dirty="0"/>
              <a:t>, dl, </a:t>
            </a:r>
            <a:r>
              <a:rPr lang="pl-PL" sz="1600" dirty="0" err="1"/>
              <a:t>dt</a:t>
            </a:r>
            <a:r>
              <a:rPr lang="pl-PL" sz="1600" dirty="0"/>
              <a:t>, </a:t>
            </a:r>
            <a:r>
              <a:rPr lang="pl-PL" sz="1600" dirty="0" err="1"/>
              <a:t>dd</a:t>
            </a:r>
            <a:r>
              <a:rPr lang="pl-PL" sz="1600" dirty="0"/>
              <a:t>, </a:t>
            </a:r>
            <a:r>
              <a:rPr lang="pl-PL" sz="1600" dirty="0" err="1"/>
              <a:t>ol</a:t>
            </a:r>
            <a:r>
              <a:rPr lang="pl-PL" sz="1600" dirty="0"/>
              <a:t>, ul, li, field</a:t>
            </a:r>
            <a:r>
              <a:rPr lang="en-US" sz="1600" dirty="0"/>
              <a:t>set, form, label, legend, table, caption, </a:t>
            </a:r>
            <a:r>
              <a:rPr lang="en-US" sz="1600" dirty="0" err="1"/>
              <a:t>tbody</a:t>
            </a:r>
            <a:r>
              <a:rPr lang="en-US" sz="1600" dirty="0"/>
              <a:t>, </a:t>
            </a:r>
            <a:r>
              <a:rPr lang="en-US" sz="1600" dirty="0" err="1"/>
              <a:t>tfoot</a:t>
            </a:r>
            <a:r>
              <a:rPr lang="en-US" sz="1600" dirty="0"/>
              <a:t>, </a:t>
            </a:r>
            <a:r>
              <a:rPr lang="en-US" sz="1600" dirty="0" err="1"/>
              <a:t>thead</a:t>
            </a:r>
            <a:r>
              <a:rPr lang="en-US" sz="1600" dirty="0"/>
              <a:t>, </a:t>
            </a:r>
            <a:r>
              <a:rPr lang="en-US" sz="1600" dirty="0" err="1"/>
              <a:t>tr</a:t>
            </a:r>
            <a:r>
              <a:rPr lang="en-US" sz="1600" dirty="0"/>
              <a:t>, </a:t>
            </a:r>
            <a:r>
              <a:rPr lang="en-US" sz="1600" dirty="0" err="1"/>
              <a:t>th</a:t>
            </a:r>
            <a:r>
              <a:rPr lang="en-US" sz="1600" dirty="0"/>
              <a:t>, td, article, aside, canvas, details, embed, figure, </a:t>
            </a:r>
            <a:r>
              <a:rPr lang="en-US" sz="1600" dirty="0" err="1"/>
              <a:t>figcaption</a:t>
            </a:r>
            <a:r>
              <a:rPr lang="en-US" sz="1600" dirty="0"/>
              <a:t>, footer, header, </a:t>
            </a:r>
            <a:r>
              <a:rPr lang="en-US" sz="1600" dirty="0" err="1"/>
              <a:t>hgroup</a:t>
            </a:r>
            <a:r>
              <a:rPr lang="en-US" sz="1600" dirty="0"/>
              <a:t>, menu, </a:t>
            </a:r>
            <a:r>
              <a:rPr lang="en-US" sz="1600" dirty="0" err="1"/>
              <a:t>nav</a:t>
            </a:r>
            <a:r>
              <a:rPr lang="en-US" sz="1600" dirty="0"/>
              <a:t>, output, ruby, section, summary, time, mark, audio, video {</a:t>
            </a:r>
          </a:p>
          <a:p>
            <a:pPr lvl="1"/>
            <a:r>
              <a:rPr lang="pl-PL" sz="1600" dirty="0"/>
              <a:t>  </a:t>
            </a:r>
            <a:r>
              <a:rPr lang="pl-PL" sz="1600" dirty="0" err="1"/>
              <a:t>margin</a:t>
            </a:r>
            <a:r>
              <a:rPr lang="pl-PL" sz="1600" dirty="0"/>
              <a:t>: 0;</a:t>
            </a:r>
          </a:p>
          <a:p>
            <a:pPr lvl="1"/>
            <a:r>
              <a:rPr lang="pl-PL" sz="1600" dirty="0"/>
              <a:t>  </a:t>
            </a:r>
            <a:r>
              <a:rPr lang="pl-PL" sz="1600" dirty="0" err="1"/>
              <a:t>padding</a:t>
            </a:r>
            <a:r>
              <a:rPr lang="pl-PL" sz="1600" dirty="0"/>
              <a:t>: 0;</a:t>
            </a:r>
          </a:p>
          <a:p>
            <a:pPr lvl="1"/>
            <a:r>
              <a:rPr lang="pl-PL" sz="1600" dirty="0"/>
              <a:t>  </a:t>
            </a:r>
            <a:r>
              <a:rPr lang="pl-PL" sz="1600" dirty="0" err="1"/>
              <a:t>border</a:t>
            </a:r>
            <a:r>
              <a:rPr lang="pl-PL" sz="1600" dirty="0"/>
              <a:t>: 0;</a:t>
            </a:r>
          </a:p>
          <a:p>
            <a:pPr lvl="1"/>
            <a:r>
              <a:rPr lang="pl-PL" sz="1600" dirty="0"/>
              <a:t>  </a:t>
            </a:r>
            <a:r>
              <a:rPr lang="pl-PL" sz="1600" dirty="0" err="1"/>
              <a:t>font-size</a:t>
            </a:r>
            <a:r>
              <a:rPr lang="pl-PL" sz="1600" dirty="0"/>
              <a:t>: 100%;</a:t>
            </a:r>
          </a:p>
          <a:p>
            <a:pPr lvl="1"/>
            <a:r>
              <a:rPr lang="pl-PL" sz="1600" dirty="0"/>
              <a:t>  </a:t>
            </a:r>
            <a:r>
              <a:rPr lang="pl-PL" sz="1600" dirty="0" err="1"/>
              <a:t>vertical-align</a:t>
            </a:r>
            <a:r>
              <a:rPr lang="pl-PL" sz="1600" dirty="0"/>
              <a:t>: </a:t>
            </a:r>
            <a:r>
              <a:rPr lang="pl-PL" sz="1600" dirty="0" err="1"/>
              <a:t>baseline</a:t>
            </a:r>
            <a:r>
              <a:rPr lang="pl-PL" sz="1600" dirty="0"/>
              <a:t>;</a:t>
            </a:r>
          </a:p>
          <a:p>
            <a:pPr lvl="1"/>
            <a:r>
              <a:rPr lang="pl-PL" sz="1600" dirty="0"/>
              <a:t>}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5699052" y="2336873"/>
            <a:ext cx="60509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l-PL" sz="2400" dirty="0"/>
              <a:t>Pierwsza reguła składa się z bardzo długiego selektora grupowego zawierającego selektory wielu różnych elementów HTML i kilku deklaracji zerujących niektóre ich własności (usunięcie marginesów, dopełnienia i obramowania, ujednolicenie rozmiaru tekstu i sposobu pionowego wyrównania). </a:t>
            </a:r>
          </a:p>
          <a:p>
            <a:pPr lvl="0"/>
            <a:endParaRPr lang="pl-PL" sz="2400" dirty="0"/>
          </a:p>
          <a:p>
            <a:pPr lvl="0"/>
            <a:r>
              <a:rPr lang="pl-PL" dirty="0"/>
              <a:t>Dzięki temu wszystkie wymienione elementy wyglądają identycznie i o to chodzi — chcemy wyzerować formatowanie wszystkich znaczników, a potem zdefiniować je od nowa.</a:t>
            </a:r>
          </a:p>
        </p:txBody>
      </p:sp>
    </p:spTree>
    <p:extLst>
      <p:ext uri="{BB962C8B-B14F-4D97-AF65-F5344CB8AC3E}">
        <p14:creationId xmlns:p14="http://schemas.microsoft.com/office/powerpoint/2010/main" val="898708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Resetowanie stylów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idx="1"/>
          </p:nvPr>
        </p:nvSpPr>
        <p:spPr>
          <a:xfrm>
            <a:off x="-308520" y="2336873"/>
            <a:ext cx="6007572" cy="3599316"/>
          </a:xfrm>
        </p:spPr>
        <p:txBody>
          <a:bodyPr/>
          <a:lstStyle/>
          <a:p>
            <a:pPr lvl="1"/>
            <a:r>
              <a:rPr lang="pl-PL" sz="1600" dirty="0" err="1"/>
              <a:t>article</a:t>
            </a:r>
            <a:r>
              <a:rPr lang="pl-PL" sz="1600" dirty="0"/>
              <a:t>, </a:t>
            </a:r>
            <a:r>
              <a:rPr lang="pl-PL" sz="1600" dirty="0" err="1"/>
              <a:t>aside</a:t>
            </a:r>
            <a:r>
              <a:rPr lang="pl-PL" sz="1600" dirty="0"/>
              <a:t>, </a:t>
            </a:r>
            <a:r>
              <a:rPr lang="pl-PL" sz="1600" dirty="0" err="1"/>
              <a:t>details</a:t>
            </a:r>
            <a:r>
              <a:rPr lang="pl-PL" sz="1600" dirty="0"/>
              <a:t>, </a:t>
            </a:r>
            <a:r>
              <a:rPr lang="pl-PL" sz="1600" dirty="0" err="1"/>
              <a:t>figcaption</a:t>
            </a:r>
            <a:r>
              <a:rPr lang="pl-PL" sz="1600" dirty="0"/>
              <a:t>, </a:t>
            </a:r>
            <a:r>
              <a:rPr lang="pl-PL" sz="1600" dirty="0" err="1"/>
              <a:t>figure</a:t>
            </a:r>
            <a:r>
              <a:rPr lang="pl-PL" sz="1600" dirty="0"/>
              <a:t>, </a:t>
            </a:r>
            <a:r>
              <a:rPr lang="pl-PL" sz="1600" dirty="0" err="1"/>
              <a:t>footer</a:t>
            </a:r>
            <a:r>
              <a:rPr lang="pl-PL" sz="1600" dirty="0"/>
              <a:t>, </a:t>
            </a:r>
            <a:r>
              <a:rPr lang="pl-PL" sz="1600" dirty="0" err="1"/>
              <a:t>header</a:t>
            </a:r>
            <a:r>
              <a:rPr lang="pl-PL" sz="1600" dirty="0"/>
              <a:t>, </a:t>
            </a:r>
            <a:r>
              <a:rPr lang="pl-PL" sz="1600" dirty="0" err="1"/>
              <a:t>hgroup</a:t>
            </a:r>
            <a:r>
              <a:rPr lang="pl-PL" sz="1600" dirty="0"/>
              <a:t>, menu, </a:t>
            </a:r>
            <a:r>
              <a:rPr lang="pl-PL" sz="1600" dirty="0" err="1"/>
              <a:t>nav</a:t>
            </a:r>
            <a:r>
              <a:rPr lang="pl-PL" sz="1600" dirty="0"/>
              <a:t>, </a:t>
            </a:r>
            <a:r>
              <a:rPr lang="pl-PL" sz="1600" dirty="0" err="1"/>
              <a:t>section</a:t>
            </a:r>
            <a:r>
              <a:rPr lang="pl-PL" sz="1600" dirty="0"/>
              <a:t> {</a:t>
            </a:r>
          </a:p>
          <a:p>
            <a:pPr lvl="1"/>
            <a:r>
              <a:rPr lang="pl-PL" sz="1600" dirty="0"/>
              <a:t>	display: </a:t>
            </a:r>
            <a:r>
              <a:rPr lang="pl-PL" sz="1600" dirty="0" err="1"/>
              <a:t>block</a:t>
            </a:r>
            <a:r>
              <a:rPr lang="pl-PL" sz="1600" dirty="0"/>
              <a:t>;</a:t>
            </a:r>
          </a:p>
          <a:p>
            <a:pPr lvl="1"/>
            <a:r>
              <a:rPr lang="pl-PL" sz="1600" dirty="0"/>
              <a:t>}</a:t>
            </a:r>
          </a:p>
          <a:p>
            <a:pPr lvl="1"/>
            <a:endParaRPr lang="pl-PL" sz="1600" dirty="0"/>
          </a:p>
          <a:p>
            <a:pPr lvl="1"/>
            <a:r>
              <a:rPr lang="pl-PL" sz="1600" dirty="0"/>
              <a:t>body {</a:t>
            </a:r>
          </a:p>
          <a:p>
            <a:pPr lvl="1"/>
            <a:r>
              <a:rPr lang="pl-PL" sz="1600" dirty="0"/>
              <a:t>	</a:t>
            </a:r>
            <a:r>
              <a:rPr lang="pl-PL" sz="1600" dirty="0" err="1"/>
              <a:t>line-height</a:t>
            </a:r>
            <a:r>
              <a:rPr lang="pl-PL" sz="1600" dirty="0"/>
              <a:t>: 1.2;</a:t>
            </a:r>
          </a:p>
          <a:p>
            <a:pPr lvl="1"/>
            <a:r>
              <a:rPr lang="pl-PL" sz="1600" dirty="0"/>
              <a:t>}</a:t>
            </a:r>
          </a:p>
          <a:p>
            <a:pPr lvl="1"/>
            <a:endParaRPr lang="pl-PL" sz="1600" dirty="0"/>
          </a:p>
        </p:txBody>
      </p:sp>
      <p:sp>
        <p:nvSpPr>
          <p:cNvPr id="4" name="pole tekstowe 3"/>
          <p:cNvSpPr txBox="1"/>
          <p:nvPr/>
        </p:nvSpPr>
        <p:spPr>
          <a:xfrm>
            <a:off x="5699052" y="2336873"/>
            <a:ext cx="60509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l-PL" sz="2400" dirty="0"/>
              <a:t>W drugiej regule również znajduje się selektor grupowy (</a:t>
            </a:r>
            <a:r>
              <a:rPr lang="pl-PL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article</a:t>
            </a:r>
            <a:r>
              <a:rPr lang="pl-PL" sz="2400" dirty="0"/>
              <a:t>, </a:t>
            </a:r>
            <a:r>
              <a:rPr lang="pl-PL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aside</a:t>
            </a:r>
            <a:r>
              <a:rPr lang="pl-PL" sz="2400" dirty="0"/>
              <a:t>, </a:t>
            </a:r>
            <a:r>
              <a:rPr lang="pl-PL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details</a:t>
            </a:r>
            <a:r>
              <a:rPr lang="pl-PL" sz="2400" dirty="0"/>
              <a:t>…), który pomaga starszym przeglądarkom poprawnie interpretować nowe elementy języka HTML5.</a:t>
            </a:r>
          </a:p>
          <a:p>
            <a:pPr lvl="0"/>
            <a:endParaRPr lang="pl-PL" sz="2400" dirty="0"/>
          </a:p>
          <a:p>
            <a:r>
              <a:rPr lang="pl-PL" sz="2400" dirty="0"/>
              <a:t>Trzecia reguła ustawia jednolitą wysokość wiersza (interlinia między wierszami tekstu).</a:t>
            </a:r>
          </a:p>
        </p:txBody>
      </p:sp>
    </p:spTree>
    <p:extLst>
      <p:ext uri="{BB962C8B-B14F-4D97-AF65-F5344CB8AC3E}">
        <p14:creationId xmlns:p14="http://schemas.microsoft.com/office/powerpoint/2010/main" val="30277039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Resetowanie stylów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idx="1"/>
          </p:nvPr>
        </p:nvSpPr>
        <p:spPr>
          <a:xfrm>
            <a:off x="-308520" y="2336873"/>
            <a:ext cx="6007572" cy="3599316"/>
          </a:xfrm>
        </p:spPr>
        <p:txBody>
          <a:bodyPr/>
          <a:lstStyle/>
          <a:p>
            <a:pPr lvl="1"/>
            <a:r>
              <a:rPr lang="pl-PL" sz="1600" dirty="0" err="1"/>
              <a:t>ol</a:t>
            </a:r>
            <a:r>
              <a:rPr lang="pl-PL" sz="1600" dirty="0"/>
              <a:t> {</a:t>
            </a:r>
          </a:p>
          <a:p>
            <a:pPr lvl="1"/>
            <a:r>
              <a:rPr lang="pl-PL" sz="1600" dirty="0"/>
              <a:t>	</a:t>
            </a:r>
            <a:r>
              <a:rPr lang="pl-PL" sz="1600" dirty="0" err="1"/>
              <a:t>padding-left</a:t>
            </a:r>
            <a:r>
              <a:rPr lang="pl-PL" sz="1600" dirty="0"/>
              <a:t>: 1.4em;</a:t>
            </a:r>
          </a:p>
          <a:p>
            <a:pPr lvl="1"/>
            <a:r>
              <a:rPr lang="pl-PL" sz="1600" dirty="0"/>
              <a:t>	list-style: </a:t>
            </a:r>
            <a:r>
              <a:rPr lang="pl-PL" sz="1600" dirty="0" err="1"/>
              <a:t>decimal</a:t>
            </a:r>
            <a:r>
              <a:rPr lang="pl-PL" sz="1600" dirty="0"/>
              <a:t>;</a:t>
            </a:r>
          </a:p>
          <a:p>
            <a:pPr lvl="1"/>
            <a:r>
              <a:rPr lang="pl-PL" sz="1600" dirty="0"/>
              <a:t>}</a:t>
            </a:r>
          </a:p>
          <a:p>
            <a:pPr lvl="1"/>
            <a:r>
              <a:rPr lang="pl-PL" sz="1600" dirty="0"/>
              <a:t>ul {</a:t>
            </a:r>
          </a:p>
          <a:p>
            <a:pPr lvl="1"/>
            <a:r>
              <a:rPr lang="pl-PL" sz="1600" dirty="0"/>
              <a:t>	</a:t>
            </a:r>
            <a:r>
              <a:rPr lang="pl-PL" sz="1600" dirty="0" err="1"/>
              <a:t>padding-left</a:t>
            </a:r>
            <a:r>
              <a:rPr lang="pl-PL" sz="1600" dirty="0"/>
              <a:t>: 1.4em;</a:t>
            </a:r>
          </a:p>
          <a:p>
            <a:pPr lvl="1"/>
            <a:r>
              <a:rPr lang="pl-PL" sz="1600" dirty="0"/>
              <a:t>	list-style: </a:t>
            </a:r>
            <a:r>
              <a:rPr lang="pl-PL" sz="1600" dirty="0" err="1"/>
              <a:t>square</a:t>
            </a:r>
            <a:r>
              <a:rPr lang="pl-PL" sz="1600" dirty="0"/>
              <a:t>;</a:t>
            </a:r>
          </a:p>
          <a:p>
            <a:pPr lvl="1"/>
            <a:r>
              <a:rPr lang="pl-PL" sz="1600" dirty="0"/>
              <a:t>}</a:t>
            </a:r>
          </a:p>
          <a:p>
            <a:pPr lvl="1"/>
            <a:r>
              <a:rPr lang="pl-PL" sz="1600" dirty="0" err="1"/>
              <a:t>table</a:t>
            </a:r>
            <a:r>
              <a:rPr lang="pl-PL" sz="1600" dirty="0"/>
              <a:t> {</a:t>
            </a:r>
          </a:p>
          <a:p>
            <a:pPr lvl="1"/>
            <a:r>
              <a:rPr lang="pl-PL" sz="1600" dirty="0"/>
              <a:t>	</a:t>
            </a:r>
            <a:r>
              <a:rPr lang="pl-PL" sz="1600" dirty="0" err="1"/>
              <a:t>border-collapse</a:t>
            </a:r>
            <a:r>
              <a:rPr lang="pl-PL" sz="1600" dirty="0"/>
              <a:t>: </a:t>
            </a:r>
            <a:r>
              <a:rPr lang="pl-PL" sz="1600" dirty="0" err="1"/>
              <a:t>collapse</a:t>
            </a:r>
            <a:r>
              <a:rPr lang="pl-PL" sz="1600" dirty="0"/>
              <a:t>;</a:t>
            </a:r>
          </a:p>
          <a:p>
            <a:pPr lvl="1"/>
            <a:r>
              <a:rPr lang="pl-PL" sz="1600" dirty="0"/>
              <a:t>	</a:t>
            </a:r>
            <a:r>
              <a:rPr lang="pl-PL" sz="1600" dirty="0" err="1"/>
              <a:t>border-spacing</a:t>
            </a:r>
            <a:r>
              <a:rPr lang="pl-PL" sz="1600" dirty="0"/>
              <a:t>: 0;</a:t>
            </a:r>
          </a:p>
          <a:p>
            <a:pPr lvl="1"/>
            <a:r>
              <a:rPr lang="pl-PL" sz="1600" dirty="0"/>
              <a:t>}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5699052" y="2336873"/>
            <a:ext cx="60509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l-PL" sz="2400" dirty="0"/>
              <a:t>Reguły czwarta i piąta (dotyczące znaczników </a:t>
            </a:r>
            <a:r>
              <a:rPr lang="pl-PL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l-PL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pl-PL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pl-PL" sz="2400" dirty="0"/>
              <a:t> i </a:t>
            </a:r>
            <a:r>
              <a:rPr lang="pl-PL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&lt;ul&gt;</a:t>
            </a:r>
            <a:r>
              <a:rPr lang="pl-PL" sz="2400" dirty="0"/>
              <a:t>) ujednolicają lewy margines i dopełnienie list.</a:t>
            </a:r>
          </a:p>
          <a:p>
            <a:pPr lvl="0"/>
            <a:endParaRPr lang="pl-PL" sz="2400" dirty="0"/>
          </a:p>
          <a:p>
            <a:pPr lvl="0"/>
            <a:r>
              <a:rPr lang="pl-PL" sz="2400" dirty="0"/>
              <a:t>Natomiast ostatnia reguła ułatwia definiowanie obramowania tabel.</a:t>
            </a:r>
          </a:p>
        </p:txBody>
      </p:sp>
    </p:spTree>
    <p:extLst>
      <p:ext uri="{BB962C8B-B14F-4D97-AF65-F5344CB8AC3E}">
        <p14:creationId xmlns:p14="http://schemas.microsoft.com/office/powerpoint/2010/main" val="138317502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{E855353D-7630-451D-8C39-9964B3C3F290}TF6e1c0bd6-43b7-4cba-aa12-42a64460605438770949-b280d1e5aed6</Template>
  <TotalTime>1629</TotalTime>
  <Words>5546</Words>
  <Application>Microsoft Office PowerPoint</Application>
  <PresentationFormat>Panoramiczny</PresentationFormat>
  <Paragraphs>549</Paragraphs>
  <Slides>78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78</vt:i4>
      </vt:variant>
    </vt:vector>
  </HeadingPairs>
  <TitlesOfParts>
    <vt:vector size="83" baseType="lpstr">
      <vt:lpstr>Arial</vt:lpstr>
      <vt:lpstr>Calibri</vt:lpstr>
      <vt:lpstr>Courier New</vt:lpstr>
      <vt:lpstr>Trebuchet MS</vt:lpstr>
      <vt:lpstr>Berlin</vt:lpstr>
      <vt:lpstr>Selektory CSS</vt:lpstr>
      <vt:lpstr>Selektory</vt:lpstr>
      <vt:lpstr>Składnia reguły</vt:lpstr>
      <vt:lpstr>Przykładowe reguły</vt:lpstr>
      <vt:lpstr>Selektory znaczników</vt:lpstr>
      <vt:lpstr>Selektor klasy 1/3</vt:lpstr>
      <vt:lpstr>Selektor klasy 2/3</vt:lpstr>
      <vt:lpstr>Selektor klasy 3/3</vt:lpstr>
      <vt:lpstr>Selektor identyfikatora 1/2</vt:lpstr>
      <vt:lpstr>Selektor identyfikatora 2/2</vt:lpstr>
      <vt:lpstr>Selektor grupowy</vt:lpstr>
      <vt:lpstr>Selektor uniwersalny</vt:lpstr>
      <vt:lpstr>Stylizowanie znaczników zagnieżdżonych</vt:lpstr>
      <vt:lpstr>Drzewo HTML</vt:lpstr>
      <vt:lpstr>Drzewo HTML</vt:lpstr>
      <vt:lpstr>Drzewo HTML</vt:lpstr>
      <vt:lpstr>Drzewo HTML</vt:lpstr>
      <vt:lpstr>Drzewo HTML</vt:lpstr>
      <vt:lpstr>Drzewo HTML</vt:lpstr>
      <vt:lpstr>Selektory potomków</vt:lpstr>
      <vt:lpstr>Selektory potomków</vt:lpstr>
      <vt:lpstr>Pseudoklasy i pseudoelementy</vt:lpstr>
      <vt:lpstr>Style odnośników</vt:lpstr>
      <vt:lpstr>Style odnośników</vt:lpstr>
      <vt:lpstr>Stylizowanie fragmentów akapitu</vt:lpstr>
      <vt:lpstr>Pseudoklasa :focus</vt:lpstr>
      <vt:lpstr>Pseudoelement ::before</vt:lpstr>
      <vt:lpstr>Pseudoelement ::after</vt:lpstr>
      <vt:lpstr>Pseudoelement ::selection</vt:lpstr>
      <vt:lpstr>Selektory atrybutu</vt:lpstr>
      <vt:lpstr>Selektory atrybutu</vt:lpstr>
      <vt:lpstr>Selektory atrybutu</vt:lpstr>
      <vt:lpstr>Selektory atrybutu</vt:lpstr>
      <vt:lpstr>Selektor dziecka</vt:lpstr>
      <vt:lpstr>Selektor dziecka</vt:lpstr>
      <vt:lpstr>Pseudoklasa :nth-child</vt:lpstr>
      <vt:lpstr>Pseudoklasa :nth-child</vt:lpstr>
      <vt:lpstr>Selektory dziecka z uwzględnieniem typu</vt:lpstr>
      <vt:lpstr>Pseudoklasa :first-of-type</vt:lpstr>
      <vt:lpstr>Pseudoklasa :last-of-type</vt:lpstr>
      <vt:lpstr>Pseudoklasa :nth-of-type</vt:lpstr>
      <vt:lpstr>Selektor brata</vt:lpstr>
      <vt:lpstr>Selektor brata</vt:lpstr>
      <vt:lpstr>Dziedziczenie</vt:lpstr>
      <vt:lpstr>Dziedziczenie</vt:lpstr>
      <vt:lpstr>Granice dziedziczenia</vt:lpstr>
      <vt:lpstr>Zarządzanie wieloma stylami — kaskada</vt:lpstr>
      <vt:lpstr>Zarządzanie wieloma stylami — kaskada</vt:lpstr>
      <vt:lpstr>Kaskadowość stylów</vt:lpstr>
      <vt:lpstr>Kumulowanie się stylów dziedziczonych</vt:lpstr>
      <vt:lpstr>Kumulowanie się stylów dziedziczonych</vt:lpstr>
      <vt:lpstr>Kumulowanie się stylów dziedziczonych</vt:lpstr>
      <vt:lpstr>Najbliższy przodek bierze górę</vt:lpstr>
      <vt:lpstr>Najbliższy przodek bierze górę</vt:lpstr>
      <vt:lpstr>Najbliższy przodek bierze górę</vt:lpstr>
      <vt:lpstr>Górę bierze styl bezpośredni</vt:lpstr>
      <vt:lpstr>Jeden znacznik, wiele stylów</vt:lpstr>
      <vt:lpstr>Jeden znacznik, wiele stylów</vt:lpstr>
      <vt:lpstr>Jeden znacznik, wiele stylów</vt:lpstr>
      <vt:lpstr>Jeden znacznik, wiele stylów</vt:lpstr>
      <vt:lpstr>Precyzja: który styl weźmie górę</vt:lpstr>
      <vt:lpstr>Precyzja: który styl weźmie górę</vt:lpstr>
      <vt:lpstr>Precyzja: który styl weźmie górę</vt:lpstr>
      <vt:lpstr>Precyzja: który styl weźmie górę</vt:lpstr>
      <vt:lpstr>Precyzja: który styl weźmie górę</vt:lpstr>
      <vt:lpstr>Precyzja: który styl weźmie górę</vt:lpstr>
      <vt:lpstr>Jeśli remis to wygrywa ostatni</vt:lpstr>
      <vt:lpstr>Jeśli remis to wygrywa ostatni</vt:lpstr>
      <vt:lpstr>Jeśli remis to wygrywa ostatni</vt:lpstr>
      <vt:lpstr>Ignorowanie precyzji</vt:lpstr>
      <vt:lpstr>Ignorowanie precyzji</vt:lpstr>
      <vt:lpstr>Zmienianie precyzji</vt:lpstr>
      <vt:lpstr>Zmienianie precyzji</vt:lpstr>
      <vt:lpstr>Resetowanie stylów</vt:lpstr>
      <vt:lpstr>Resetowanie stylów</vt:lpstr>
      <vt:lpstr>Resetowanie stylów</vt:lpstr>
      <vt:lpstr>Resetowanie stylów</vt:lpstr>
      <vt:lpstr>Resetowanie stylów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Selektory CSS</dc:title>
  <dc:creator>Bohdan Głębocki</dc:creator>
  <cp:lastModifiedBy>Kamila Mora</cp:lastModifiedBy>
  <cp:revision>70</cp:revision>
  <dcterms:created xsi:type="dcterms:W3CDTF">2026-03-26T01:34:12Z</dcterms:created>
  <dcterms:modified xsi:type="dcterms:W3CDTF">2026-04-09T09:32:26Z</dcterms:modified>
</cp:coreProperties>
</file>